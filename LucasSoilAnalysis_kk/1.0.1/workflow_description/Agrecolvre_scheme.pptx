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_rels/presentation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_rels/slideLayout1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.xml.rels" ContentType="application/vnd.openxmlformats-package.relationships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80799A5-3E94-4A02-ABD9-90002848A6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04F6319-B945-4992-BF52-750BEF502F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3AD254C-84AF-4D3D-B862-4660F359C0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BE09DB9-2B4A-4B7A-984F-20912BF6CD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A74D556-4BC1-43BB-89DB-FA35417F7B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AD4E808-9DCC-4C1C-B7D7-D3B7D00824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3F2BF0E-D3B5-460A-B2EA-3A1BF4D554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7912898-9948-4A78-BC1F-4C7BCE5517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86A630F-D820-4316-AAC1-330F1F2936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7604B35-BD49-4197-B7EA-812F6BEBF34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616F9B-6D5B-4F3E-BB12-219089F9DF3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4B5A1E-A083-4B53-9DD5-CDAC689490C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0079085-ED33-4F54-A5C6-05B16DB3A6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F56FF94-A1EB-452B-BFBB-B55BF9C9B3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F593C28-BF1C-4F2C-88B9-A54A7E6D88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42348CD-5B85-41F6-BDAF-9B4B908D88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7460AA6-AAE9-4C34-A259-71A8EC398F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92B2F98-23CC-4DBB-9274-3755B6690C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87CCC72-D0BE-4962-933F-A1DD0FF1E9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71486BF-E3E3-474E-957F-C2DCD91455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4217E3F-2B7E-4C45-B2D7-4E9EB689A5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2F29A30-1F2C-41F9-A6EC-F61C119EDA8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D14E3A7-1B29-43BD-995E-EA0B70DBDBC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C5E7729-A8CC-4C2B-ACCF-3A0213D53A8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77C64A-BE0F-44BB-BB25-0E2A2B578D7B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915FAE-7726-42B1-8756-03717C4FD0E1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3.png"/><Relationship Id="rId9" Type="http://schemas.openxmlformats.org/officeDocument/2006/relationships/image" Target="../media/image3.png"/><Relationship Id="rId10" Type="http://schemas.openxmlformats.org/officeDocument/2006/relationships/image" Target="../media/image7.png"/><Relationship Id="rId11" Type="http://schemas.openxmlformats.org/officeDocument/2006/relationships/image" Target="../media/image6.png"/><Relationship Id="rId12" Type="http://schemas.openxmlformats.org/officeDocument/2006/relationships/image" Target="../media/image3.png"/><Relationship Id="rId13" Type="http://schemas.openxmlformats.org/officeDocument/2006/relationships/image" Target="../media/image7.png"/><Relationship Id="rId14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3.png"/><Relationship Id="rId9" Type="http://schemas.openxmlformats.org/officeDocument/2006/relationships/image" Target="../media/image7.png"/><Relationship Id="rId10" Type="http://schemas.openxmlformats.org/officeDocument/2006/relationships/image" Target="../media/image6.png"/><Relationship Id="rId11" Type="http://schemas.openxmlformats.org/officeDocument/2006/relationships/image" Target="../media/image3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Relationship Id="rId14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594360" y="308520"/>
            <a:ext cx="8913960" cy="5056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293;p6" descr=""/>
          <p:cNvPicPr/>
          <p:nvPr/>
        </p:nvPicPr>
        <p:blipFill>
          <a:blip r:embed="rId1"/>
          <a:stretch/>
        </p:blipFill>
        <p:spPr>
          <a:xfrm>
            <a:off x="612000" y="2126160"/>
            <a:ext cx="499320" cy="466200"/>
          </a:xfrm>
          <a:prstGeom prst="rect">
            <a:avLst/>
          </a:prstGeom>
          <a:ln w="0">
            <a:noFill/>
          </a:ln>
        </p:spPr>
      </p:pic>
      <p:pic>
        <p:nvPicPr>
          <p:cNvPr id="84" name="Google Shape;293;p 1" descr=""/>
          <p:cNvPicPr/>
          <p:nvPr/>
        </p:nvPicPr>
        <p:blipFill>
          <a:blip r:embed="rId2"/>
          <a:stretch/>
        </p:blipFill>
        <p:spPr>
          <a:xfrm>
            <a:off x="612360" y="3278520"/>
            <a:ext cx="499320" cy="466200"/>
          </a:xfrm>
          <a:prstGeom prst="rect">
            <a:avLst/>
          </a:prstGeom>
          <a:ln w="0">
            <a:noFill/>
          </a:ln>
        </p:spPr>
      </p:pic>
      <p:sp>
        <p:nvSpPr>
          <p:cNvPr id="85" name=""/>
          <p:cNvSpPr/>
          <p:nvPr/>
        </p:nvSpPr>
        <p:spPr>
          <a:xfrm>
            <a:off x="612000" y="1728000"/>
            <a:ext cx="6814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chemeClr val="dk1"/>
                </a:solidFill>
                <a:latin typeface="Calibri"/>
                <a:ea typeface="Calibri"/>
              </a:rPr>
              <a:t>LUCAS-Core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612360" y="2900520"/>
            <a:ext cx="6814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chemeClr val="dk1"/>
                </a:solidFill>
                <a:latin typeface="Calibri"/>
                <a:ea typeface="Calibri"/>
              </a:rPr>
              <a:t>LUCAS- Topsoil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Google Shape;319;p6" descr=""/>
          <p:cNvPicPr/>
          <p:nvPr/>
        </p:nvPicPr>
        <p:blipFill>
          <a:blip r:embed="rId3"/>
          <a:stretch/>
        </p:blipFill>
        <p:spPr>
          <a:xfrm>
            <a:off x="1926000" y="2166840"/>
            <a:ext cx="394920" cy="394920"/>
          </a:xfrm>
          <a:prstGeom prst="rect">
            <a:avLst/>
          </a:prstGeom>
          <a:ln w="0">
            <a:noFill/>
          </a:ln>
        </p:spPr>
      </p:pic>
      <p:pic>
        <p:nvPicPr>
          <p:cNvPr id="88" name="Google Shape;321;p6" descr=""/>
          <p:cNvPicPr/>
          <p:nvPr/>
        </p:nvPicPr>
        <p:blipFill>
          <a:blip r:embed="rId4"/>
          <a:stretch/>
        </p:blipFill>
        <p:spPr>
          <a:xfrm>
            <a:off x="2255040" y="2287080"/>
            <a:ext cx="232200" cy="3218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1836360" y="1728360"/>
            <a:ext cx="10432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chemeClr val="dk1"/>
                </a:solidFill>
                <a:latin typeface="Calibri"/>
                <a:ea typeface="Calibri"/>
              </a:rPr>
              <a:t>LUCAS-Core 2009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0" name="Google Shape;232;p5"/>
          <p:cNvCxnSpPr/>
          <p:nvPr/>
        </p:nvCxnSpPr>
        <p:spPr>
          <a:xfrm>
            <a:off x="1270080" y="2376000"/>
            <a:ext cx="505080" cy="108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pic>
        <p:nvPicPr>
          <p:cNvPr id="91" name="Google Shape;319;p 1" descr=""/>
          <p:cNvPicPr/>
          <p:nvPr/>
        </p:nvPicPr>
        <p:blipFill>
          <a:blip r:embed="rId5"/>
          <a:stretch/>
        </p:blipFill>
        <p:spPr>
          <a:xfrm>
            <a:off x="1926360" y="3318840"/>
            <a:ext cx="394920" cy="394920"/>
          </a:xfrm>
          <a:prstGeom prst="rect">
            <a:avLst/>
          </a:prstGeom>
          <a:ln w="0">
            <a:noFill/>
          </a:ln>
        </p:spPr>
      </p:pic>
      <p:sp>
        <p:nvSpPr>
          <p:cNvPr id="92" name=""/>
          <p:cNvSpPr/>
          <p:nvPr/>
        </p:nvSpPr>
        <p:spPr>
          <a:xfrm>
            <a:off x="1836720" y="2916360"/>
            <a:ext cx="10429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chemeClr val="dk1"/>
                </a:solidFill>
                <a:latin typeface="Calibri"/>
                <a:ea typeface="Calibri"/>
              </a:rPr>
              <a:t>LUCAS-Topsoil 2018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3" name="Google Shape;232;p 1"/>
          <p:cNvCxnSpPr/>
          <p:nvPr/>
        </p:nvCxnSpPr>
        <p:spPr>
          <a:xfrm>
            <a:off x="1270080" y="3492000"/>
            <a:ext cx="505080" cy="108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pic>
        <p:nvPicPr>
          <p:cNvPr id="94" name="Google Shape;299;p6" descr=""/>
          <p:cNvPicPr/>
          <p:nvPr/>
        </p:nvPicPr>
        <p:blipFill>
          <a:blip r:embed="rId6"/>
          <a:stretch/>
        </p:blipFill>
        <p:spPr>
          <a:xfrm>
            <a:off x="2221920" y="3413160"/>
            <a:ext cx="263520" cy="345960"/>
          </a:xfrm>
          <a:prstGeom prst="rect">
            <a:avLst/>
          </a:prstGeom>
          <a:ln w="0">
            <a:noFill/>
          </a:ln>
        </p:spPr>
      </p:pic>
      <p:sp>
        <p:nvSpPr>
          <p:cNvPr id="95" name="Google Shape;183;p4"/>
          <p:cNvSpPr/>
          <p:nvPr/>
        </p:nvSpPr>
        <p:spPr>
          <a:xfrm>
            <a:off x="3220200" y="2116080"/>
            <a:ext cx="808560" cy="51948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Calibri"/>
              </a:rPr>
              <a:t>Data cleaning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6" name="Google Shape;232;p 2"/>
          <p:cNvCxnSpPr/>
          <p:nvPr/>
        </p:nvCxnSpPr>
        <p:spPr>
          <a:xfrm>
            <a:off x="2602080" y="2376000"/>
            <a:ext cx="582840" cy="72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97" name="Google Shape;183;p 1"/>
          <p:cNvSpPr/>
          <p:nvPr/>
        </p:nvSpPr>
        <p:spPr>
          <a:xfrm>
            <a:off x="3222720" y="3232080"/>
            <a:ext cx="808560" cy="51948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Calibri"/>
              </a:rPr>
              <a:t>Data cleaning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8" name="Google Shape;232;p 3"/>
          <p:cNvCxnSpPr/>
          <p:nvPr/>
        </p:nvCxnSpPr>
        <p:spPr>
          <a:xfrm>
            <a:off x="2605320" y="3492000"/>
            <a:ext cx="582120" cy="72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99" name="Google Shape;183;p 2"/>
          <p:cNvSpPr/>
          <p:nvPr/>
        </p:nvSpPr>
        <p:spPr>
          <a:xfrm>
            <a:off x="4591440" y="2635920"/>
            <a:ext cx="808560" cy="51948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Calibri"/>
              </a:rPr>
              <a:t>Points Selection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0" name="Google Shape;232;p 4"/>
          <p:cNvCxnSpPr>
            <a:stCxn id="95" idx="3"/>
            <a:endCxn id="99" idx="1"/>
          </p:cNvCxnSpPr>
          <p:nvPr/>
        </p:nvCxnSpPr>
        <p:spPr>
          <a:xfrm>
            <a:off x="4028760" y="2375640"/>
            <a:ext cx="563040" cy="52020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cxnSp>
        <p:nvCxnSpPr>
          <p:cNvPr id="101" name="Google Shape;232;p 5"/>
          <p:cNvCxnSpPr>
            <a:stCxn id="97" idx="3"/>
            <a:endCxn id="99" idx="1"/>
          </p:cNvCxnSpPr>
          <p:nvPr/>
        </p:nvCxnSpPr>
        <p:spPr>
          <a:xfrm flipV="1">
            <a:off x="4031280" y="2895480"/>
            <a:ext cx="560520" cy="59652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102" name="Google Shape;147;p4"/>
          <p:cNvSpPr/>
          <p:nvPr/>
        </p:nvSpPr>
        <p:spPr>
          <a:xfrm>
            <a:off x="432000" y="1694520"/>
            <a:ext cx="3779280" cy="1004760"/>
          </a:xfrm>
          <a:prstGeom prst="rect">
            <a:avLst/>
          </a:prstGeom>
          <a:noFill/>
          <a:ln w="360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960" rIns="102960" tIns="57240" bIns="57240" anchor="ctr">
            <a:noAutofit/>
          </a:bodyPr>
          <a:p>
            <a:pPr>
              <a:lnSpc>
                <a:spcPct val="100000"/>
              </a:lnSpc>
            </a:pPr>
            <a:endParaRPr b="0" lang="en-GB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3" name=""/>
          <p:cNvSpPr/>
          <p:nvPr/>
        </p:nvSpPr>
        <p:spPr>
          <a:xfrm>
            <a:off x="645480" y="1325160"/>
            <a:ext cx="111780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c9211e"/>
                </a:solidFill>
                <a:latin typeface="Calibri"/>
                <a:ea typeface="Calibri"/>
              </a:rPr>
              <a:t>Step 1a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Google Shape;147;p 1"/>
          <p:cNvSpPr/>
          <p:nvPr/>
        </p:nvSpPr>
        <p:spPr>
          <a:xfrm>
            <a:off x="432000" y="2927520"/>
            <a:ext cx="3779280" cy="1004760"/>
          </a:xfrm>
          <a:prstGeom prst="rect">
            <a:avLst/>
          </a:prstGeom>
          <a:noFill/>
          <a:ln w="360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960" rIns="102960" tIns="57240" bIns="57240" anchor="ctr">
            <a:noAutofit/>
          </a:bodyPr>
          <a:p>
            <a:pPr>
              <a:lnSpc>
                <a:spcPct val="100000"/>
              </a:lnSpc>
            </a:pPr>
            <a:endParaRPr b="0" lang="en-GB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5" name=""/>
          <p:cNvSpPr/>
          <p:nvPr/>
        </p:nvSpPr>
        <p:spPr>
          <a:xfrm>
            <a:off x="645480" y="3890160"/>
            <a:ext cx="111780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c9211e"/>
                </a:solidFill>
                <a:latin typeface="Calibri"/>
                <a:ea typeface="Calibri"/>
              </a:rPr>
              <a:t>Step 1b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6" name="Google Shape;232;p 6"/>
          <p:cNvCxnSpPr>
            <a:stCxn id="99" idx="3"/>
            <a:endCxn id="107" idx="1"/>
          </p:cNvCxnSpPr>
          <p:nvPr/>
        </p:nvCxnSpPr>
        <p:spPr>
          <a:xfrm flipV="1">
            <a:off x="5400000" y="2891160"/>
            <a:ext cx="520560" cy="468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107" name="Google Shape;183;p 3"/>
          <p:cNvSpPr/>
          <p:nvPr/>
        </p:nvSpPr>
        <p:spPr>
          <a:xfrm>
            <a:off x="5920200" y="2631600"/>
            <a:ext cx="808560" cy="51948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Calibri"/>
              </a:rPr>
              <a:t>Variables Selection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8" name="Google Shape;232;p 8"/>
          <p:cNvCxnSpPr>
            <a:stCxn id="99" idx="2"/>
            <a:endCxn id="109" idx="0"/>
          </p:cNvCxnSpPr>
          <p:nvPr/>
        </p:nvCxnSpPr>
        <p:spPr>
          <a:xfrm>
            <a:off x="4995720" y="3155400"/>
            <a:ext cx="324720" cy="38088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109" name="Google Shape;183;p 4"/>
          <p:cNvSpPr/>
          <p:nvPr/>
        </p:nvSpPr>
        <p:spPr>
          <a:xfrm>
            <a:off x="4915800" y="3535920"/>
            <a:ext cx="808560" cy="51948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Calibri"/>
              </a:rPr>
              <a:t>Summary Tables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Google Shape;147;p 2"/>
          <p:cNvSpPr/>
          <p:nvPr/>
        </p:nvSpPr>
        <p:spPr>
          <a:xfrm>
            <a:off x="4387680" y="2520000"/>
            <a:ext cx="2519280" cy="1680840"/>
          </a:xfrm>
          <a:prstGeom prst="rect">
            <a:avLst/>
          </a:prstGeom>
          <a:noFill/>
          <a:ln w="360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960" rIns="102960" tIns="57240" bIns="57240" anchor="ctr">
            <a:noAutofit/>
          </a:bodyPr>
          <a:p>
            <a:pPr>
              <a:lnSpc>
                <a:spcPct val="100000"/>
              </a:lnSpc>
            </a:pPr>
            <a:endParaRPr b="0" lang="en-GB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1" name=""/>
          <p:cNvSpPr/>
          <p:nvPr/>
        </p:nvSpPr>
        <p:spPr>
          <a:xfrm>
            <a:off x="4569480" y="2159640"/>
            <a:ext cx="111780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c9211e"/>
                </a:solidFill>
                <a:latin typeface="Calibri"/>
                <a:ea typeface="Calibri"/>
              </a:rPr>
              <a:t>Step 2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2" name="Google Shape;232;p 7"/>
          <p:cNvCxnSpPr>
            <a:stCxn id="107" idx="3"/>
          </p:cNvCxnSpPr>
          <p:nvPr/>
        </p:nvCxnSpPr>
        <p:spPr>
          <a:xfrm flipV="1">
            <a:off x="6728760" y="2459520"/>
            <a:ext cx="544320" cy="43200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grpSp>
        <p:nvGrpSpPr>
          <p:cNvPr id="113" name="Google Shape;244;p5"/>
          <p:cNvGrpSpPr/>
          <p:nvPr/>
        </p:nvGrpSpPr>
        <p:grpSpPr>
          <a:xfrm>
            <a:off x="7272000" y="2198520"/>
            <a:ext cx="1043280" cy="521280"/>
            <a:chOff x="7272000" y="2198520"/>
            <a:chExt cx="1043280" cy="521280"/>
          </a:xfrm>
        </p:grpSpPr>
        <p:sp>
          <p:nvSpPr>
            <p:cNvPr id="114" name="Google Shape;245;p 1"/>
            <p:cNvSpPr/>
            <p:nvPr/>
          </p:nvSpPr>
          <p:spPr>
            <a:xfrm>
              <a:off x="7272000" y="2198520"/>
              <a:ext cx="916200" cy="45972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PCA</a:t>
              </a:r>
              <a:endParaRPr b="0" lang="en-GB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15" name="Google Shape;246;p 1" descr=""/>
            <p:cNvPicPr/>
            <p:nvPr/>
          </p:nvPicPr>
          <p:blipFill>
            <a:blip r:embed="rId7"/>
            <a:stretch/>
          </p:blipFill>
          <p:spPr>
            <a:xfrm>
              <a:off x="8074080" y="2488320"/>
              <a:ext cx="241200" cy="231480"/>
            </a:xfrm>
            <a:prstGeom prst="rect">
              <a:avLst/>
            </a:prstGeom>
            <a:ln w="0">
              <a:noFill/>
            </a:ln>
          </p:spPr>
        </p:pic>
      </p:grpSp>
      <p:cxnSp>
        <p:nvCxnSpPr>
          <p:cNvPr id="116" name="Google Shape;232;p 9"/>
          <p:cNvCxnSpPr>
            <a:stCxn id="109" idx="3"/>
          </p:cNvCxnSpPr>
          <p:nvPr/>
        </p:nvCxnSpPr>
        <p:spPr>
          <a:xfrm>
            <a:off x="5724360" y="3795480"/>
            <a:ext cx="350280" cy="144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pic>
        <p:nvPicPr>
          <p:cNvPr id="117" name="Google Shape;319;p 2" descr=""/>
          <p:cNvPicPr/>
          <p:nvPr/>
        </p:nvPicPr>
        <p:blipFill>
          <a:blip r:embed="rId8"/>
          <a:stretch/>
        </p:blipFill>
        <p:spPr>
          <a:xfrm>
            <a:off x="6073560" y="3598200"/>
            <a:ext cx="394920" cy="394920"/>
          </a:xfrm>
          <a:prstGeom prst="rect">
            <a:avLst/>
          </a:prstGeom>
          <a:ln w="0">
            <a:noFill/>
          </a:ln>
        </p:spPr>
      </p:pic>
      <p:cxnSp>
        <p:nvCxnSpPr>
          <p:cNvPr id="118" name="Google Shape;232;p 10"/>
          <p:cNvCxnSpPr/>
          <p:nvPr/>
        </p:nvCxnSpPr>
        <p:spPr>
          <a:xfrm flipV="1">
            <a:off x="8242200" y="2259360"/>
            <a:ext cx="349560" cy="18108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pic>
        <p:nvPicPr>
          <p:cNvPr id="119" name="Google Shape;319;p 3" descr=""/>
          <p:cNvPicPr/>
          <p:nvPr/>
        </p:nvPicPr>
        <p:blipFill>
          <a:blip r:embed="rId9"/>
          <a:stretch/>
        </p:blipFill>
        <p:spPr>
          <a:xfrm>
            <a:off x="8590680" y="2061720"/>
            <a:ext cx="394920" cy="394920"/>
          </a:xfrm>
          <a:prstGeom prst="rect">
            <a:avLst/>
          </a:prstGeom>
          <a:ln w="0">
            <a:noFill/>
          </a:ln>
        </p:spPr>
      </p:pic>
      <p:pic>
        <p:nvPicPr>
          <p:cNvPr id="120" name="" descr=""/>
          <p:cNvPicPr/>
          <p:nvPr/>
        </p:nvPicPr>
        <p:blipFill>
          <a:blip r:embed="rId10"/>
          <a:stretch/>
        </p:blipFill>
        <p:spPr>
          <a:xfrm>
            <a:off x="8575200" y="2535840"/>
            <a:ext cx="395280" cy="395280"/>
          </a:xfrm>
          <a:prstGeom prst="rect">
            <a:avLst/>
          </a:prstGeom>
          <a:ln w="0">
            <a:noFill/>
          </a:ln>
        </p:spPr>
      </p:pic>
      <p:cxnSp>
        <p:nvCxnSpPr>
          <p:cNvPr id="121" name="Google Shape;232;p 12"/>
          <p:cNvCxnSpPr>
            <a:endCxn id="120" idx="1"/>
          </p:cNvCxnSpPr>
          <p:nvPr/>
        </p:nvCxnSpPr>
        <p:spPr>
          <a:xfrm>
            <a:off x="8238960" y="2445840"/>
            <a:ext cx="336600" cy="28800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grpSp>
        <p:nvGrpSpPr>
          <p:cNvPr id="122" name="Google Shape;244;p 1"/>
          <p:cNvGrpSpPr/>
          <p:nvPr/>
        </p:nvGrpSpPr>
        <p:grpSpPr>
          <a:xfrm>
            <a:off x="7268760" y="3314880"/>
            <a:ext cx="1043280" cy="521280"/>
            <a:chOff x="7268760" y="3314880"/>
            <a:chExt cx="1043280" cy="521280"/>
          </a:xfrm>
        </p:grpSpPr>
        <p:sp>
          <p:nvSpPr>
            <p:cNvPr id="123" name="Google Shape;245;p 2"/>
            <p:cNvSpPr/>
            <p:nvPr/>
          </p:nvSpPr>
          <p:spPr>
            <a:xfrm>
              <a:off x="7268760" y="3314880"/>
              <a:ext cx="916200" cy="45972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ANOVA</a:t>
              </a:r>
              <a:endParaRPr b="0" lang="en-GB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24" name="Google Shape;246;p 2" descr=""/>
            <p:cNvPicPr/>
            <p:nvPr/>
          </p:nvPicPr>
          <p:blipFill>
            <a:blip r:embed="rId11"/>
            <a:stretch/>
          </p:blipFill>
          <p:spPr>
            <a:xfrm>
              <a:off x="8070840" y="3604680"/>
              <a:ext cx="241200" cy="231480"/>
            </a:xfrm>
            <a:prstGeom prst="rect">
              <a:avLst/>
            </a:prstGeom>
            <a:ln w="0">
              <a:noFill/>
            </a:ln>
          </p:spPr>
        </p:pic>
      </p:grpSp>
      <p:cxnSp>
        <p:nvCxnSpPr>
          <p:cNvPr id="125" name="Google Shape;232;p 11"/>
          <p:cNvCxnSpPr/>
          <p:nvPr/>
        </p:nvCxnSpPr>
        <p:spPr>
          <a:xfrm flipV="1">
            <a:off x="8238960" y="3375720"/>
            <a:ext cx="349560" cy="18108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pic>
        <p:nvPicPr>
          <p:cNvPr id="126" name="Google Shape;319;p 4" descr=""/>
          <p:cNvPicPr/>
          <p:nvPr/>
        </p:nvPicPr>
        <p:blipFill>
          <a:blip r:embed="rId12"/>
          <a:stretch/>
        </p:blipFill>
        <p:spPr>
          <a:xfrm>
            <a:off x="8587440" y="3178080"/>
            <a:ext cx="394920" cy="394920"/>
          </a:xfrm>
          <a:prstGeom prst="rect">
            <a:avLst/>
          </a:prstGeom>
          <a:ln w="0">
            <a:noFill/>
          </a:ln>
        </p:spPr>
      </p:pic>
      <p:pic>
        <p:nvPicPr>
          <p:cNvPr id="127" name="" descr=""/>
          <p:cNvPicPr/>
          <p:nvPr/>
        </p:nvPicPr>
        <p:blipFill>
          <a:blip r:embed="rId13"/>
          <a:stretch/>
        </p:blipFill>
        <p:spPr>
          <a:xfrm>
            <a:off x="8571960" y="3652200"/>
            <a:ext cx="395280" cy="395280"/>
          </a:xfrm>
          <a:prstGeom prst="rect">
            <a:avLst/>
          </a:prstGeom>
          <a:ln w="0">
            <a:noFill/>
          </a:ln>
        </p:spPr>
      </p:pic>
      <p:cxnSp>
        <p:nvCxnSpPr>
          <p:cNvPr id="128" name="Google Shape;232;p 13"/>
          <p:cNvCxnSpPr>
            <a:endCxn id="127" idx="1"/>
          </p:cNvCxnSpPr>
          <p:nvPr/>
        </p:nvCxnSpPr>
        <p:spPr>
          <a:xfrm>
            <a:off x="8235720" y="3562200"/>
            <a:ext cx="336600" cy="28800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cxnSp>
        <p:nvCxnSpPr>
          <p:cNvPr id="129" name="Google Shape;232;p 14"/>
          <p:cNvCxnSpPr>
            <a:endCxn id="122" idx="1"/>
          </p:cNvCxnSpPr>
          <p:nvPr/>
        </p:nvCxnSpPr>
        <p:spPr>
          <a:xfrm>
            <a:off x="6725160" y="2897280"/>
            <a:ext cx="543960" cy="67860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130" name="Google Shape;147;p 3"/>
          <p:cNvSpPr/>
          <p:nvPr/>
        </p:nvSpPr>
        <p:spPr>
          <a:xfrm>
            <a:off x="7087680" y="3096000"/>
            <a:ext cx="2519280" cy="1131840"/>
          </a:xfrm>
          <a:prstGeom prst="rect">
            <a:avLst/>
          </a:prstGeom>
          <a:noFill/>
          <a:ln w="360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960" rIns="102960" tIns="57240" bIns="57240" anchor="ctr">
            <a:noAutofit/>
          </a:bodyPr>
          <a:p>
            <a:pPr>
              <a:lnSpc>
                <a:spcPct val="100000"/>
              </a:lnSpc>
            </a:pPr>
            <a:endParaRPr b="0" lang="en-GB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1" name=""/>
          <p:cNvSpPr/>
          <p:nvPr/>
        </p:nvSpPr>
        <p:spPr>
          <a:xfrm>
            <a:off x="7269480" y="4150800"/>
            <a:ext cx="111780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c9211e"/>
                </a:solidFill>
                <a:latin typeface="Calibri"/>
                <a:ea typeface="Calibri"/>
              </a:rPr>
              <a:t>Step 4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Google Shape;147;p 4"/>
          <p:cNvSpPr/>
          <p:nvPr/>
        </p:nvSpPr>
        <p:spPr>
          <a:xfrm>
            <a:off x="7087680" y="1863000"/>
            <a:ext cx="2519280" cy="1131840"/>
          </a:xfrm>
          <a:prstGeom prst="rect">
            <a:avLst/>
          </a:prstGeom>
          <a:noFill/>
          <a:ln w="360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960" rIns="102960" tIns="57240" bIns="57240" anchor="ctr">
            <a:noAutofit/>
          </a:bodyPr>
          <a:p>
            <a:pPr>
              <a:lnSpc>
                <a:spcPct val="100000"/>
              </a:lnSpc>
            </a:pPr>
            <a:endParaRPr b="0" lang="en-GB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" name=""/>
          <p:cNvSpPr/>
          <p:nvPr/>
        </p:nvSpPr>
        <p:spPr>
          <a:xfrm>
            <a:off x="7269480" y="1477800"/>
            <a:ext cx="111780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c9211e"/>
                </a:solidFill>
                <a:latin typeface="Calibri"/>
                <a:ea typeface="Calibri"/>
              </a:rPr>
              <a:t>Step 3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293;p 2" descr=""/>
          <p:cNvPicPr/>
          <p:nvPr/>
        </p:nvPicPr>
        <p:blipFill>
          <a:blip r:embed="rId1"/>
          <a:stretch/>
        </p:blipFill>
        <p:spPr>
          <a:xfrm>
            <a:off x="324000" y="2126160"/>
            <a:ext cx="499320" cy="466200"/>
          </a:xfrm>
          <a:prstGeom prst="rect">
            <a:avLst/>
          </a:prstGeom>
          <a:ln w="0">
            <a:noFill/>
          </a:ln>
        </p:spPr>
      </p:pic>
      <p:pic>
        <p:nvPicPr>
          <p:cNvPr id="135" name="Google Shape;293;p 3" descr=""/>
          <p:cNvPicPr/>
          <p:nvPr/>
        </p:nvPicPr>
        <p:blipFill>
          <a:blip r:embed="rId2"/>
          <a:stretch/>
        </p:blipFill>
        <p:spPr>
          <a:xfrm>
            <a:off x="324360" y="3278520"/>
            <a:ext cx="499320" cy="466200"/>
          </a:xfrm>
          <a:prstGeom prst="rect">
            <a:avLst/>
          </a:prstGeom>
          <a:ln w="0">
            <a:noFill/>
          </a:ln>
        </p:spPr>
      </p:pic>
      <p:sp>
        <p:nvSpPr>
          <p:cNvPr id="136" name=""/>
          <p:cNvSpPr/>
          <p:nvPr/>
        </p:nvSpPr>
        <p:spPr>
          <a:xfrm>
            <a:off x="324000" y="1728000"/>
            <a:ext cx="6814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chemeClr val="dk1"/>
                </a:solidFill>
                <a:latin typeface="Calibri"/>
                <a:ea typeface="Calibri"/>
              </a:rPr>
              <a:t>LUCAS-Core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324360" y="2900520"/>
            <a:ext cx="6814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chemeClr val="dk1"/>
                </a:solidFill>
                <a:latin typeface="Calibri"/>
                <a:ea typeface="Calibri"/>
              </a:rPr>
              <a:t>LUCAS- Topsoil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Google Shape;319;p 5" descr=""/>
          <p:cNvPicPr/>
          <p:nvPr/>
        </p:nvPicPr>
        <p:blipFill>
          <a:blip r:embed="rId3"/>
          <a:stretch/>
        </p:blipFill>
        <p:spPr>
          <a:xfrm>
            <a:off x="1638000" y="2166840"/>
            <a:ext cx="394920" cy="394920"/>
          </a:xfrm>
          <a:prstGeom prst="rect">
            <a:avLst/>
          </a:prstGeom>
          <a:ln w="0">
            <a:noFill/>
          </a:ln>
        </p:spPr>
      </p:pic>
      <p:pic>
        <p:nvPicPr>
          <p:cNvPr id="139" name="Google Shape;321;p 1" descr=""/>
          <p:cNvPicPr/>
          <p:nvPr/>
        </p:nvPicPr>
        <p:blipFill>
          <a:blip r:embed="rId4"/>
          <a:stretch/>
        </p:blipFill>
        <p:spPr>
          <a:xfrm>
            <a:off x="1967040" y="2287080"/>
            <a:ext cx="232200" cy="321840"/>
          </a:xfrm>
          <a:prstGeom prst="rect">
            <a:avLst/>
          </a:prstGeom>
          <a:ln w="0">
            <a:noFill/>
          </a:ln>
        </p:spPr>
      </p:pic>
      <p:sp>
        <p:nvSpPr>
          <p:cNvPr id="140" name=""/>
          <p:cNvSpPr/>
          <p:nvPr/>
        </p:nvSpPr>
        <p:spPr>
          <a:xfrm>
            <a:off x="1548360" y="1728360"/>
            <a:ext cx="10432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chemeClr val="dk1"/>
                </a:solidFill>
                <a:latin typeface="Calibri"/>
                <a:ea typeface="Calibri"/>
              </a:rPr>
              <a:t>LUCAS-Core 2009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1" name="Google Shape;232;p 15"/>
          <p:cNvCxnSpPr/>
          <p:nvPr/>
        </p:nvCxnSpPr>
        <p:spPr>
          <a:xfrm>
            <a:off x="982080" y="2376000"/>
            <a:ext cx="505080" cy="108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pic>
        <p:nvPicPr>
          <p:cNvPr id="142" name="Google Shape;319;p 6" descr=""/>
          <p:cNvPicPr/>
          <p:nvPr/>
        </p:nvPicPr>
        <p:blipFill>
          <a:blip r:embed="rId5"/>
          <a:stretch/>
        </p:blipFill>
        <p:spPr>
          <a:xfrm>
            <a:off x="1638360" y="3318840"/>
            <a:ext cx="394920" cy="39492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1548720" y="2916360"/>
            <a:ext cx="10429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chemeClr val="dk1"/>
                </a:solidFill>
                <a:latin typeface="Calibri"/>
                <a:ea typeface="Calibri"/>
              </a:rPr>
              <a:t>LUCAS-Topsoil 2018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4" name="Google Shape;232;p 16"/>
          <p:cNvCxnSpPr/>
          <p:nvPr/>
        </p:nvCxnSpPr>
        <p:spPr>
          <a:xfrm>
            <a:off x="982080" y="3492000"/>
            <a:ext cx="505080" cy="108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pic>
        <p:nvPicPr>
          <p:cNvPr id="145" name="Google Shape;299;p 1" descr=""/>
          <p:cNvPicPr/>
          <p:nvPr/>
        </p:nvPicPr>
        <p:blipFill>
          <a:blip r:embed="rId6"/>
          <a:stretch/>
        </p:blipFill>
        <p:spPr>
          <a:xfrm>
            <a:off x="1933920" y="3413160"/>
            <a:ext cx="263520" cy="345960"/>
          </a:xfrm>
          <a:prstGeom prst="rect">
            <a:avLst/>
          </a:prstGeom>
          <a:ln w="0">
            <a:noFill/>
          </a:ln>
        </p:spPr>
      </p:pic>
      <p:sp>
        <p:nvSpPr>
          <p:cNvPr id="146" name="Google Shape;183;p 5"/>
          <p:cNvSpPr/>
          <p:nvPr/>
        </p:nvSpPr>
        <p:spPr>
          <a:xfrm>
            <a:off x="2932200" y="2116080"/>
            <a:ext cx="808560" cy="51948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Calibri"/>
              </a:rPr>
              <a:t>Data cleaning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7" name="Google Shape;232;p 17"/>
          <p:cNvCxnSpPr/>
          <p:nvPr/>
        </p:nvCxnSpPr>
        <p:spPr>
          <a:xfrm>
            <a:off x="2314080" y="2376000"/>
            <a:ext cx="582840" cy="72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148" name="Google Shape;183;p 6"/>
          <p:cNvSpPr/>
          <p:nvPr/>
        </p:nvSpPr>
        <p:spPr>
          <a:xfrm>
            <a:off x="2934720" y="3232080"/>
            <a:ext cx="808560" cy="51948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Calibri"/>
              </a:rPr>
              <a:t>Data cleaning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9" name="Google Shape;232;p 18"/>
          <p:cNvCxnSpPr/>
          <p:nvPr/>
        </p:nvCxnSpPr>
        <p:spPr>
          <a:xfrm>
            <a:off x="2317320" y="3492000"/>
            <a:ext cx="582120" cy="72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150" name="Google Shape;183;p 7"/>
          <p:cNvSpPr/>
          <p:nvPr/>
        </p:nvSpPr>
        <p:spPr>
          <a:xfrm>
            <a:off x="4303440" y="2275920"/>
            <a:ext cx="808560" cy="51948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Calibri"/>
              </a:rPr>
              <a:t>Points Selection (stable LU)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1" name="Google Shape;232;p 19"/>
          <p:cNvCxnSpPr>
            <a:stCxn id="146" idx="3"/>
            <a:endCxn id="150" idx="1"/>
          </p:cNvCxnSpPr>
          <p:nvPr/>
        </p:nvCxnSpPr>
        <p:spPr>
          <a:xfrm>
            <a:off x="3740760" y="2375640"/>
            <a:ext cx="563040" cy="16020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cxnSp>
        <p:nvCxnSpPr>
          <p:cNvPr id="152" name="Google Shape;232;p 20"/>
          <p:cNvCxnSpPr>
            <a:stCxn id="148" idx="3"/>
            <a:endCxn id="150" idx="1"/>
          </p:cNvCxnSpPr>
          <p:nvPr/>
        </p:nvCxnSpPr>
        <p:spPr>
          <a:xfrm flipV="1">
            <a:off x="3743280" y="2535480"/>
            <a:ext cx="560520" cy="95652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153" name="Google Shape;147;p 5"/>
          <p:cNvSpPr/>
          <p:nvPr/>
        </p:nvSpPr>
        <p:spPr>
          <a:xfrm>
            <a:off x="144000" y="1694520"/>
            <a:ext cx="3779280" cy="2265480"/>
          </a:xfrm>
          <a:prstGeom prst="rect">
            <a:avLst/>
          </a:prstGeom>
          <a:noFill/>
          <a:ln w="360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960" rIns="102960" tIns="57240" bIns="5724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4" name=""/>
          <p:cNvSpPr/>
          <p:nvPr/>
        </p:nvSpPr>
        <p:spPr>
          <a:xfrm>
            <a:off x="357480" y="1325160"/>
            <a:ext cx="111780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c9211e"/>
                </a:solidFill>
                <a:latin typeface="Calibri"/>
                <a:ea typeface="Calibri"/>
              </a:rPr>
              <a:t>Step 1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5" name="Google Shape;232;p 21"/>
          <p:cNvCxnSpPr>
            <a:stCxn id="150" idx="3"/>
            <a:endCxn id="156" idx="1"/>
          </p:cNvCxnSpPr>
          <p:nvPr/>
        </p:nvCxnSpPr>
        <p:spPr>
          <a:xfrm>
            <a:off x="5112000" y="2535480"/>
            <a:ext cx="520560" cy="39204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156" name="Google Shape;183;p 8"/>
          <p:cNvSpPr/>
          <p:nvPr/>
        </p:nvSpPr>
        <p:spPr>
          <a:xfrm>
            <a:off x="5632200" y="2667600"/>
            <a:ext cx="667800" cy="51948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Calibri"/>
              </a:rPr>
              <a:t>Points Selection (AoS)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7" name="Google Shape;232;p 22"/>
          <p:cNvCxnSpPr>
            <a:stCxn id="150" idx="2"/>
            <a:endCxn id="158" idx="0"/>
          </p:cNvCxnSpPr>
          <p:nvPr/>
        </p:nvCxnSpPr>
        <p:spPr>
          <a:xfrm>
            <a:off x="4707720" y="2795400"/>
            <a:ext cx="232560" cy="38088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158" name="Google Shape;183;p 9"/>
          <p:cNvSpPr/>
          <p:nvPr/>
        </p:nvSpPr>
        <p:spPr>
          <a:xfrm>
            <a:off x="4535640" y="3175920"/>
            <a:ext cx="808560" cy="51948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Calibri"/>
              </a:rPr>
              <a:t>Summary Tables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Google Shape;147;p 7"/>
          <p:cNvSpPr/>
          <p:nvPr/>
        </p:nvSpPr>
        <p:spPr>
          <a:xfrm>
            <a:off x="4176000" y="2160000"/>
            <a:ext cx="1224000" cy="2160000"/>
          </a:xfrm>
          <a:prstGeom prst="rect">
            <a:avLst/>
          </a:prstGeom>
          <a:noFill/>
          <a:ln w="360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960" rIns="102960" tIns="57240" bIns="5724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0" name=""/>
          <p:cNvSpPr/>
          <p:nvPr/>
        </p:nvSpPr>
        <p:spPr>
          <a:xfrm>
            <a:off x="4176000" y="1835640"/>
            <a:ext cx="111780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c9211e"/>
                </a:solidFill>
                <a:latin typeface="Calibri"/>
                <a:ea typeface="Calibri"/>
              </a:rPr>
              <a:t>Step 2a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1" name="Google Shape;232;p 23"/>
          <p:cNvCxnSpPr>
            <a:stCxn id="162" idx="3"/>
            <a:endCxn id="163" idx="1"/>
          </p:cNvCxnSpPr>
          <p:nvPr/>
        </p:nvCxnSpPr>
        <p:spPr>
          <a:xfrm flipV="1">
            <a:off x="7448760" y="2459160"/>
            <a:ext cx="507600" cy="46836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grpSp>
        <p:nvGrpSpPr>
          <p:cNvPr id="164" name="Google Shape;244;p 2"/>
          <p:cNvGrpSpPr/>
          <p:nvPr/>
        </p:nvGrpSpPr>
        <p:grpSpPr>
          <a:xfrm>
            <a:off x="7956000" y="2198520"/>
            <a:ext cx="1043280" cy="521280"/>
            <a:chOff x="7956000" y="2198520"/>
            <a:chExt cx="1043280" cy="521280"/>
          </a:xfrm>
        </p:grpSpPr>
        <p:sp>
          <p:nvSpPr>
            <p:cNvPr id="165" name="Google Shape;245;p 3"/>
            <p:cNvSpPr/>
            <p:nvPr/>
          </p:nvSpPr>
          <p:spPr>
            <a:xfrm>
              <a:off x="7956000" y="2198520"/>
              <a:ext cx="916200" cy="45972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PCA</a:t>
              </a:r>
              <a:endParaRPr b="0" lang="en-GB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66" name="Google Shape;246;p 3" descr=""/>
            <p:cNvPicPr/>
            <p:nvPr/>
          </p:nvPicPr>
          <p:blipFill>
            <a:blip r:embed="rId7"/>
            <a:stretch/>
          </p:blipFill>
          <p:spPr>
            <a:xfrm>
              <a:off x="8758080" y="2488320"/>
              <a:ext cx="241200" cy="231480"/>
            </a:xfrm>
            <a:prstGeom prst="rect">
              <a:avLst/>
            </a:prstGeom>
            <a:ln w="0">
              <a:noFill/>
            </a:ln>
          </p:spPr>
        </p:pic>
      </p:grpSp>
      <p:cxnSp>
        <p:nvCxnSpPr>
          <p:cNvPr id="167" name="Google Shape;232;p 24"/>
          <p:cNvCxnSpPr>
            <a:stCxn id="158" idx="2"/>
            <a:endCxn id="168" idx="0"/>
          </p:cNvCxnSpPr>
          <p:nvPr/>
        </p:nvCxnSpPr>
        <p:spPr>
          <a:xfrm>
            <a:off x="4939920" y="3695400"/>
            <a:ext cx="226440" cy="19116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cxnSp>
        <p:nvCxnSpPr>
          <p:cNvPr id="169" name="Google Shape;232;p 25"/>
          <p:cNvCxnSpPr/>
          <p:nvPr/>
        </p:nvCxnSpPr>
        <p:spPr>
          <a:xfrm flipV="1">
            <a:off x="8926200" y="2259360"/>
            <a:ext cx="349560" cy="18108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pic>
        <p:nvPicPr>
          <p:cNvPr id="170" name="Google Shape;319;p 8" descr=""/>
          <p:cNvPicPr/>
          <p:nvPr/>
        </p:nvPicPr>
        <p:blipFill>
          <a:blip r:embed="rId8"/>
          <a:stretch/>
        </p:blipFill>
        <p:spPr>
          <a:xfrm>
            <a:off x="9274680" y="2061720"/>
            <a:ext cx="394920" cy="394920"/>
          </a:xfrm>
          <a:prstGeom prst="rect">
            <a:avLst/>
          </a:prstGeom>
          <a:ln w="0">
            <a:noFill/>
          </a:ln>
        </p:spPr>
      </p:pic>
      <p:pic>
        <p:nvPicPr>
          <p:cNvPr id="171" name="" descr=""/>
          <p:cNvPicPr/>
          <p:nvPr/>
        </p:nvPicPr>
        <p:blipFill>
          <a:blip r:embed="rId9"/>
          <a:stretch/>
        </p:blipFill>
        <p:spPr>
          <a:xfrm>
            <a:off x="9259200" y="2535840"/>
            <a:ext cx="395280" cy="395280"/>
          </a:xfrm>
          <a:prstGeom prst="rect">
            <a:avLst/>
          </a:prstGeom>
          <a:ln w="0">
            <a:noFill/>
          </a:ln>
        </p:spPr>
      </p:pic>
      <p:cxnSp>
        <p:nvCxnSpPr>
          <p:cNvPr id="172" name="Google Shape;232;p 26"/>
          <p:cNvCxnSpPr>
            <a:endCxn id="171" idx="1"/>
          </p:cNvCxnSpPr>
          <p:nvPr/>
        </p:nvCxnSpPr>
        <p:spPr>
          <a:xfrm>
            <a:off x="8922960" y="2445840"/>
            <a:ext cx="336600" cy="28800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grpSp>
        <p:nvGrpSpPr>
          <p:cNvPr id="173" name="Google Shape;244;p 3"/>
          <p:cNvGrpSpPr/>
          <p:nvPr/>
        </p:nvGrpSpPr>
        <p:grpSpPr>
          <a:xfrm>
            <a:off x="7952760" y="3314880"/>
            <a:ext cx="1043280" cy="521280"/>
            <a:chOff x="7952760" y="3314880"/>
            <a:chExt cx="1043280" cy="521280"/>
          </a:xfrm>
        </p:grpSpPr>
        <p:sp>
          <p:nvSpPr>
            <p:cNvPr id="174" name="Google Shape;245;p 4"/>
            <p:cNvSpPr/>
            <p:nvPr/>
          </p:nvSpPr>
          <p:spPr>
            <a:xfrm>
              <a:off x="7952760" y="3314880"/>
              <a:ext cx="916200" cy="45972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ANOVA</a:t>
              </a:r>
              <a:endParaRPr b="0" lang="en-GB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75" name="Google Shape;246;p 4" descr=""/>
            <p:cNvPicPr/>
            <p:nvPr/>
          </p:nvPicPr>
          <p:blipFill>
            <a:blip r:embed="rId10"/>
            <a:stretch/>
          </p:blipFill>
          <p:spPr>
            <a:xfrm>
              <a:off x="8754840" y="3604680"/>
              <a:ext cx="241200" cy="231480"/>
            </a:xfrm>
            <a:prstGeom prst="rect">
              <a:avLst/>
            </a:prstGeom>
            <a:ln w="0">
              <a:noFill/>
            </a:ln>
          </p:spPr>
        </p:pic>
      </p:grpSp>
      <p:cxnSp>
        <p:nvCxnSpPr>
          <p:cNvPr id="176" name="Google Shape;232;p 27"/>
          <p:cNvCxnSpPr/>
          <p:nvPr/>
        </p:nvCxnSpPr>
        <p:spPr>
          <a:xfrm flipV="1">
            <a:off x="8922960" y="3375720"/>
            <a:ext cx="349560" cy="18108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pic>
        <p:nvPicPr>
          <p:cNvPr id="177" name="Google Shape;319;p 9" descr=""/>
          <p:cNvPicPr/>
          <p:nvPr/>
        </p:nvPicPr>
        <p:blipFill>
          <a:blip r:embed="rId11"/>
          <a:stretch/>
        </p:blipFill>
        <p:spPr>
          <a:xfrm>
            <a:off x="9271440" y="3178080"/>
            <a:ext cx="394920" cy="394920"/>
          </a:xfrm>
          <a:prstGeom prst="rect">
            <a:avLst/>
          </a:prstGeom>
          <a:ln w="0">
            <a:noFill/>
          </a:ln>
        </p:spPr>
      </p:pic>
      <p:pic>
        <p:nvPicPr>
          <p:cNvPr id="178" name="" descr=""/>
          <p:cNvPicPr/>
          <p:nvPr/>
        </p:nvPicPr>
        <p:blipFill>
          <a:blip r:embed="rId12"/>
          <a:stretch/>
        </p:blipFill>
        <p:spPr>
          <a:xfrm>
            <a:off x="9255960" y="3652200"/>
            <a:ext cx="395280" cy="395280"/>
          </a:xfrm>
          <a:prstGeom prst="rect">
            <a:avLst/>
          </a:prstGeom>
          <a:ln w="0">
            <a:noFill/>
          </a:ln>
        </p:spPr>
      </p:pic>
      <p:cxnSp>
        <p:nvCxnSpPr>
          <p:cNvPr id="179" name="Google Shape;232;p 28"/>
          <p:cNvCxnSpPr>
            <a:endCxn id="178" idx="1"/>
          </p:cNvCxnSpPr>
          <p:nvPr/>
        </p:nvCxnSpPr>
        <p:spPr>
          <a:xfrm>
            <a:off x="8919720" y="3562200"/>
            <a:ext cx="336600" cy="28800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cxnSp>
        <p:nvCxnSpPr>
          <p:cNvPr id="180" name="Google Shape;232;p 29"/>
          <p:cNvCxnSpPr>
            <a:stCxn id="162" idx="3"/>
            <a:endCxn id="173" idx="1"/>
          </p:cNvCxnSpPr>
          <p:nvPr/>
        </p:nvCxnSpPr>
        <p:spPr>
          <a:xfrm>
            <a:off x="7448760" y="2927160"/>
            <a:ext cx="504360" cy="64872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181" name="Google Shape;147;p 8"/>
          <p:cNvSpPr/>
          <p:nvPr/>
        </p:nvSpPr>
        <p:spPr>
          <a:xfrm>
            <a:off x="7771680" y="3096000"/>
            <a:ext cx="2092320" cy="1131840"/>
          </a:xfrm>
          <a:prstGeom prst="rect">
            <a:avLst/>
          </a:prstGeom>
          <a:noFill/>
          <a:ln w="360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960" rIns="102960" tIns="57240" bIns="5724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2" name=""/>
          <p:cNvSpPr/>
          <p:nvPr/>
        </p:nvSpPr>
        <p:spPr>
          <a:xfrm>
            <a:off x="7953480" y="4150800"/>
            <a:ext cx="111780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c9211e"/>
                </a:solidFill>
                <a:latin typeface="Calibri"/>
                <a:ea typeface="Calibri"/>
              </a:rPr>
              <a:t>Step 4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Google Shape;147;p 9"/>
          <p:cNvSpPr/>
          <p:nvPr/>
        </p:nvSpPr>
        <p:spPr>
          <a:xfrm>
            <a:off x="7771680" y="1863000"/>
            <a:ext cx="2092320" cy="1131840"/>
          </a:xfrm>
          <a:prstGeom prst="rect">
            <a:avLst/>
          </a:prstGeom>
          <a:noFill/>
          <a:ln w="360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960" rIns="102960" tIns="57240" bIns="5724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4" name=""/>
          <p:cNvSpPr/>
          <p:nvPr/>
        </p:nvSpPr>
        <p:spPr>
          <a:xfrm>
            <a:off x="7953480" y="1477800"/>
            <a:ext cx="111780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c9211e"/>
                </a:solidFill>
                <a:latin typeface="Calibri"/>
                <a:ea typeface="Calibri"/>
              </a:rPr>
              <a:t>Step 3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5" name="" descr=""/>
          <p:cNvPicPr/>
          <p:nvPr/>
        </p:nvPicPr>
        <p:blipFill>
          <a:blip r:embed="rId13"/>
          <a:stretch/>
        </p:blipFill>
        <p:spPr>
          <a:xfrm>
            <a:off x="4968000" y="3886200"/>
            <a:ext cx="396000" cy="396000"/>
          </a:xfrm>
          <a:prstGeom prst="rect">
            <a:avLst/>
          </a:prstGeom>
          <a:ln w="0">
            <a:noFill/>
          </a:ln>
        </p:spPr>
      </p:pic>
      <p:sp>
        <p:nvSpPr>
          <p:cNvPr id="186" name="Google Shape;147;p 10"/>
          <p:cNvSpPr/>
          <p:nvPr/>
        </p:nvSpPr>
        <p:spPr>
          <a:xfrm>
            <a:off x="5508000" y="2169360"/>
            <a:ext cx="2052000" cy="1610640"/>
          </a:xfrm>
          <a:prstGeom prst="rect">
            <a:avLst/>
          </a:prstGeom>
          <a:noFill/>
          <a:ln w="360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960" rIns="102960" tIns="57240" bIns="5724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7" name=""/>
          <p:cNvSpPr/>
          <p:nvPr/>
        </p:nvSpPr>
        <p:spPr>
          <a:xfrm>
            <a:off x="5508000" y="1845000"/>
            <a:ext cx="111780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c9211e"/>
                </a:solidFill>
                <a:latin typeface="Calibri"/>
                <a:ea typeface="Calibri"/>
              </a:rPr>
              <a:t>Step 2b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Google Shape;183;p 10"/>
          <p:cNvSpPr/>
          <p:nvPr/>
        </p:nvSpPr>
        <p:spPr>
          <a:xfrm>
            <a:off x="6660000" y="2667600"/>
            <a:ext cx="788760" cy="51948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Calibri"/>
              </a:rPr>
              <a:t>Variables Selection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8" name="Google Shape;232;p 30"/>
          <p:cNvCxnSpPr>
            <a:stCxn id="156" idx="3"/>
            <a:endCxn id="162" idx="1"/>
          </p:cNvCxnSpPr>
          <p:nvPr/>
        </p:nvCxnSpPr>
        <p:spPr>
          <a:xfrm>
            <a:off x="6300000" y="2927160"/>
            <a:ext cx="360360" cy="36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Application>LibreOffice/7.5.9.2$MacOSX_X86_64 LibreOffice_project/cdeefe45c17511d326101eed8008ac4092f278a9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2025-05-14T14:11:03Z</dcterms:created>
  <dc:creator>Xavier Rotllan-Puig</dc:creator>
  <dc:description/>
  <dc:language>ca-ES</dc:language>
  <cp:lastModifiedBy>Xavier Rotllan-Puig</cp:lastModifiedBy>
  <dcterms:modified xsi:type="dcterms:W3CDTF">2025-07-17T13:33:15Z</dcterms:modified>
  <cp:revision>16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