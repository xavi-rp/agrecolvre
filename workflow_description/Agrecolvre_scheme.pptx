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_rels/presentation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_rels/slideLayout1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.xml.rels" ContentType="application/vnd.openxmlformats-package.relationships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9AC7B7E-53DD-447D-B0ED-3882849CEA3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270DDDC-EEE8-4764-AFBA-5EA26496CC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CB84F8E-CDF6-4215-ACF8-53FBC90809F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C45676D-6421-4A7C-A781-E1D0FEED6EC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11B16E7-5E48-447D-974C-EB82240E59A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18D5BDC-0109-42FD-B467-9E4F1DDD300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1060BDB-ACBD-46F7-A997-7A52A100A30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AEF1120-E836-40EA-BF94-5430F0B587B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A111A1F-50EB-4402-8773-B2427373E89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1630FCB-402F-4E2C-B8EE-E4173A69FCA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5A0BA0D-1BC5-4BFB-BBE4-20CDE01BCAD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7776CB8-854E-45D8-9BBB-E1504E326AF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915F186-C8AD-4737-BA21-472EA8A8505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AFC04C4-86A8-4EAD-B8C6-EB9071C2628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CA28769-A0B5-455E-B78F-418974B69B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D8B41B8-51D3-4617-AEB0-F3F1953CE6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7D58F1E-A700-4CD1-B09A-71F9769A6B1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41F523C-3398-4585-8B03-3199F40ED3D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FE5BE24-4149-4F4B-9FD7-15BC40CD464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99F33EF-F728-4A76-A1B3-2481FDA828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CDDC8EF-DBAA-493E-85D7-86C0C7429D8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F8F0C96-41F3-4E03-9F5A-34E0F90A825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D105A6F-E886-4E7E-95B3-1CE6B149477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5D66588-3DDB-492C-97AD-737287341EA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ca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356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9A70E89-E30D-4A52-8AF2-F953B8699D71}" type="slidenum"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356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330086B-4266-46FF-9A74-0E725D97A52E}" type="slidenum"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6840" cy="38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3.png"/><Relationship Id="rId9" Type="http://schemas.openxmlformats.org/officeDocument/2006/relationships/image" Target="../media/image3.png"/><Relationship Id="rId10" Type="http://schemas.openxmlformats.org/officeDocument/2006/relationships/image" Target="../media/image7.png"/><Relationship Id="rId11" Type="http://schemas.openxmlformats.org/officeDocument/2006/relationships/image" Target="../media/image6.png"/><Relationship Id="rId12" Type="http://schemas.openxmlformats.org/officeDocument/2006/relationships/image" Target="../media/image3.png"/><Relationship Id="rId13" Type="http://schemas.openxmlformats.org/officeDocument/2006/relationships/image" Target="../media/image7.png"/><Relationship Id="rId14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3.png"/><Relationship Id="rId9" Type="http://schemas.openxmlformats.org/officeDocument/2006/relationships/image" Target="../media/image7.png"/><Relationship Id="rId10" Type="http://schemas.openxmlformats.org/officeDocument/2006/relationships/image" Target="../media/image6.png"/><Relationship Id="rId11" Type="http://schemas.openxmlformats.org/officeDocument/2006/relationships/image" Target="../media/image3.png"/><Relationship Id="rId12" Type="http://schemas.openxmlformats.org/officeDocument/2006/relationships/image" Target="../media/image7.png"/><Relationship Id="rId13" Type="http://schemas.openxmlformats.org/officeDocument/2006/relationships/image" Target="../media/image8.png"/><Relationship Id="rId14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594360" y="308520"/>
            <a:ext cx="8913600" cy="5055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293;p6" descr=""/>
          <p:cNvPicPr/>
          <p:nvPr/>
        </p:nvPicPr>
        <p:blipFill>
          <a:blip r:embed="rId1"/>
          <a:stretch/>
        </p:blipFill>
        <p:spPr>
          <a:xfrm>
            <a:off x="612000" y="2126160"/>
            <a:ext cx="498960" cy="465840"/>
          </a:xfrm>
          <a:prstGeom prst="rect">
            <a:avLst/>
          </a:prstGeom>
          <a:ln w="0">
            <a:noFill/>
          </a:ln>
        </p:spPr>
      </p:pic>
      <p:pic>
        <p:nvPicPr>
          <p:cNvPr id="84" name="Google Shape;293;p 1" descr=""/>
          <p:cNvPicPr/>
          <p:nvPr/>
        </p:nvPicPr>
        <p:blipFill>
          <a:blip r:embed="rId2"/>
          <a:stretch/>
        </p:blipFill>
        <p:spPr>
          <a:xfrm>
            <a:off x="612360" y="3278520"/>
            <a:ext cx="498960" cy="465840"/>
          </a:xfrm>
          <a:prstGeom prst="rect">
            <a:avLst/>
          </a:prstGeom>
          <a:ln w="0">
            <a:noFill/>
          </a:ln>
        </p:spPr>
      </p:pic>
      <p:sp>
        <p:nvSpPr>
          <p:cNvPr id="85" name=""/>
          <p:cNvSpPr/>
          <p:nvPr/>
        </p:nvSpPr>
        <p:spPr>
          <a:xfrm>
            <a:off x="612000" y="1728000"/>
            <a:ext cx="6811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50" spc="-1" strike="noStrike">
                <a:solidFill>
                  <a:schemeClr val="dk1"/>
                </a:solidFill>
                <a:latin typeface="Calibri"/>
                <a:ea typeface="Calibri"/>
              </a:rPr>
              <a:t>LUCAS-Core</a:t>
            </a:r>
            <a:endParaRPr b="0" lang="en-GB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612360" y="2900520"/>
            <a:ext cx="6811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50" spc="-1" strike="noStrike">
                <a:solidFill>
                  <a:schemeClr val="dk1"/>
                </a:solidFill>
                <a:latin typeface="Calibri"/>
                <a:ea typeface="Calibri"/>
              </a:rPr>
              <a:t>LUCAS- Topsoil</a:t>
            </a:r>
            <a:endParaRPr b="0" lang="en-GB" sz="11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" name="Google Shape;319;p6" descr=""/>
          <p:cNvPicPr/>
          <p:nvPr/>
        </p:nvPicPr>
        <p:blipFill>
          <a:blip r:embed="rId3"/>
          <a:stretch/>
        </p:blipFill>
        <p:spPr>
          <a:xfrm>
            <a:off x="1926000" y="2166840"/>
            <a:ext cx="394560" cy="394560"/>
          </a:xfrm>
          <a:prstGeom prst="rect">
            <a:avLst/>
          </a:prstGeom>
          <a:ln w="0">
            <a:noFill/>
          </a:ln>
        </p:spPr>
      </p:pic>
      <p:pic>
        <p:nvPicPr>
          <p:cNvPr id="88" name="Google Shape;321;p6" descr=""/>
          <p:cNvPicPr/>
          <p:nvPr/>
        </p:nvPicPr>
        <p:blipFill>
          <a:blip r:embed="rId4"/>
          <a:stretch/>
        </p:blipFill>
        <p:spPr>
          <a:xfrm>
            <a:off x="2255040" y="2287080"/>
            <a:ext cx="231840" cy="321480"/>
          </a:xfrm>
          <a:prstGeom prst="rect">
            <a:avLst/>
          </a:prstGeom>
          <a:ln w="0">
            <a:noFill/>
          </a:ln>
        </p:spPr>
      </p:pic>
      <p:sp>
        <p:nvSpPr>
          <p:cNvPr id="89" name=""/>
          <p:cNvSpPr/>
          <p:nvPr/>
        </p:nvSpPr>
        <p:spPr>
          <a:xfrm>
            <a:off x="1836360" y="1728360"/>
            <a:ext cx="10429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50" spc="-1" strike="noStrike">
                <a:solidFill>
                  <a:schemeClr val="dk1"/>
                </a:solidFill>
                <a:latin typeface="Calibri"/>
                <a:ea typeface="Calibri"/>
              </a:rPr>
              <a:t>LUCAS-Core 2009</a:t>
            </a:r>
            <a:endParaRPr b="0" lang="en-GB" sz="11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0" name="Google Shape;232;p5"/>
          <p:cNvCxnSpPr/>
          <p:nvPr/>
        </p:nvCxnSpPr>
        <p:spPr>
          <a:xfrm>
            <a:off x="1270080" y="2376000"/>
            <a:ext cx="505440" cy="144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pic>
        <p:nvPicPr>
          <p:cNvPr id="91" name="Google Shape;319;p 1" descr=""/>
          <p:cNvPicPr/>
          <p:nvPr/>
        </p:nvPicPr>
        <p:blipFill>
          <a:blip r:embed="rId5"/>
          <a:stretch/>
        </p:blipFill>
        <p:spPr>
          <a:xfrm>
            <a:off x="1926360" y="3318840"/>
            <a:ext cx="394560" cy="394560"/>
          </a:xfrm>
          <a:prstGeom prst="rect">
            <a:avLst/>
          </a:prstGeom>
          <a:ln w="0">
            <a:noFill/>
          </a:ln>
        </p:spPr>
      </p:pic>
      <p:sp>
        <p:nvSpPr>
          <p:cNvPr id="92" name=""/>
          <p:cNvSpPr/>
          <p:nvPr/>
        </p:nvSpPr>
        <p:spPr>
          <a:xfrm>
            <a:off x="1836720" y="2916360"/>
            <a:ext cx="104256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50" spc="-1" strike="noStrike">
                <a:solidFill>
                  <a:schemeClr val="dk1"/>
                </a:solidFill>
                <a:latin typeface="Calibri"/>
                <a:ea typeface="Calibri"/>
              </a:rPr>
              <a:t>LUCAS-Topsoil 2018</a:t>
            </a:r>
            <a:endParaRPr b="0" lang="en-GB" sz="11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3" name="Google Shape;232;p 1"/>
          <p:cNvCxnSpPr/>
          <p:nvPr/>
        </p:nvCxnSpPr>
        <p:spPr>
          <a:xfrm>
            <a:off x="1270080" y="3492000"/>
            <a:ext cx="505440" cy="144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pic>
        <p:nvPicPr>
          <p:cNvPr id="94" name="Google Shape;299;p6" descr=""/>
          <p:cNvPicPr/>
          <p:nvPr/>
        </p:nvPicPr>
        <p:blipFill>
          <a:blip r:embed="rId6"/>
          <a:stretch/>
        </p:blipFill>
        <p:spPr>
          <a:xfrm>
            <a:off x="2221920" y="3413160"/>
            <a:ext cx="263160" cy="345600"/>
          </a:xfrm>
          <a:prstGeom prst="rect">
            <a:avLst/>
          </a:prstGeom>
          <a:ln w="0">
            <a:noFill/>
          </a:ln>
        </p:spPr>
      </p:pic>
      <p:sp>
        <p:nvSpPr>
          <p:cNvPr id="95" name="Google Shape;183;p4"/>
          <p:cNvSpPr/>
          <p:nvPr/>
        </p:nvSpPr>
        <p:spPr>
          <a:xfrm>
            <a:off x="3220200" y="2116080"/>
            <a:ext cx="808200" cy="519120"/>
          </a:xfrm>
          <a:prstGeom prst="rect">
            <a:avLst/>
          </a:prstGeom>
          <a:noFill/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  <a:ea typeface="Calibri"/>
              </a:rPr>
              <a:t>Data cleaning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6" name="Google Shape;232;p 2"/>
          <p:cNvCxnSpPr/>
          <p:nvPr/>
        </p:nvCxnSpPr>
        <p:spPr>
          <a:xfrm>
            <a:off x="2602080" y="2376000"/>
            <a:ext cx="583200" cy="108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sp>
        <p:nvSpPr>
          <p:cNvPr id="97" name="Google Shape;183;p 1"/>
          <p:cNvSpPr/>
          <p:nvPr/>
        </p:nvSpPr>
        <p:spPr>
          <a:xfrm>
            <a:off x="3222720" y="3232080"/>
            <a:ext cx="808200" cy="519120"/>
          </a:xfrm>
          <a:prstGeom prst="rect">
            <a:avLst/>
          </a:prstGeom>
          <a:noFill/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  <a:ea typeface="Calibri"/>
              </a:rPr>
              <a:t>Data cleaning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8" name="Google Shape;232;p 3"/>
          <p:cNvCxnSpPr/>
          <p:nvPr/>
        </p:nvCxnSpPr>
        <p:spPr>
          <a:xfrm>
            <a:off x="2605320" y="3492000"/>
            <a:ext cx="582480" cy="108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sp>
        <p:nvSpPr>
          <p:cNvPr id="99" name="Google Shape;183;p 2"/>
          <p:cNvSpPr/>
          <p:nvPr/>
        </p:nvSpPr>
        <p:spPr>
          <a:xfrm>
            <a:off x="4591440" y="2635920"/>
            <a:ext cx="808200" cy="519120"/>
          </a:xfrm>
          <a:prstGeom prst="rect">
            <a:avLst/>
          </a:prstGeom>
          <a:noFill/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  <a:ea typeface="Calibri"/>
              </a:rPr>
              <a:t>Points Selection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0" name="Google Shape;232;p 4"/>
          <p:cNvCxnSpPr>
            <a:stCxn id="95" idx="3"/>
            <a:endCxn id="99" idx="1"/>
          </p:cNvCxnSpPr>
          <p:nvPr/>
        </p:nvCxnSpPr>
        <p:spPr>
          <a:xfrm>
            <a:off x="4028400" y="2375640"/>
            <a:ext cx="563400" cy="52020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cxnSp>
        <p:nvCxnSpPr>
          <p:cNvPr id="101" name="Google Shape;232;p 5"/>
          <p:cNvCxnSpPr>
            <a:stCxn id="97" idx="3"/>
            <a:endCxn id="99" idx="1"/>
          </p:cNvCxnSpPr>
          <p:nvPr/>
        </p:nvCxnSpPr>
        <p:spPr>
          <a:xfrm flipV="1">
            <a:off x="4030920" y="2895480"/>
            <a:ext cx="560880" cy="59652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sp>
        <p:nvSpPr>
          <p:cNvPr id="102" name="Google Shape;147;p4"/>
          <p:cNvSpPr/>
          <p:nvPr/>
        </p:nvSpPr>
        <p:spPr>
          <a:xfrm>
            <a:off x="432000" y="1694520"/>
            <a:ext cx="3778920" cy="1004400"/>
          </a:xfrm>
          <a:prstGeom prst="rect">
            <a:avLst/>
          </a:prstGeom>
          <a:noFill/>
          <a:ln w="3600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2960" rIns="102960" tIns="57240" bIns="57240" anchor="ctr">
            <a:noAutofit/>
          </a:bodyPr>
          <a:p>
            <a:pPr>
              <a:lnSpc>
                <a:spcPct val="100000"/>
              </a:lnSpc>
            </a:pPr>
            <a:endParaRPr b="0" lang="en-GB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3" name=""/>
          <p:cNvSpPr/>
          <p:nvPr/>
        </p:nvSpPr>
        <p:spPr>
          <a:xfrm>
            <a:off x="645480" y="1325160"/>
            <a:ext cx="111744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c9211e"/>
                </a:solidFill>
                <a:latin typeface="Calibri"/>
                <a:ea typeface="Calibri"/>
              </a:rPr>
              <a:t>Step 1a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Google Shape;147;p 1"/>
          <p:cNvSpPr/>
          <p:nvPr/>
        </p:nvSpPr>
        <p:spPr>
          <a:xfrm>
            <a:off x="432000" y="2927520"/>
            <a:ext cx="3778920" cy="1004400"/>
          </a:xfrm>
          <a:prstGeom prst="rect">
            <a:avLst/>
          </a:prstGeom>
          <a:noFill/>
          <a:ln w="3600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2960" rIns="102960" tIns="57240" bIns="57240" anchor="ctr">
            <a:noAutofit/>
          </a:bodyPr>
          <a:p>
            <a:pPr>
              <a:lnSpc>
                <a:spcPct val="100000"/>
              </a:lnSpc>
            </a:pPr>
            <a:endParaRPr b="0" lang="en-GB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05" name=""/>
          <p:cNvSpPr/>
          <p:nvPr/>
        </p:nvSpPr>
        <p:spPr>
          <a:xfrm>
            <a:off x="645480" y="3890160"/>
            <a:ext cx="111744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c9211e"/>
                </a:solidFill>
                <a:latin typeface="Calibri"/>
                <a:ea typeface="Calibri"/>
              </a:rPr>
              <a:t>Step 1b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6" name="Google Shape;232;p 6"/>
          <p:cNvCxnSpPr>
            <a:stCxn id="99" idx="3"/>
            <a:endCxn id="107" idx="1"/>
          </p:cNvCxnSpPr>
          <p:nvPr/>
        </p:nvCxnSpPr>
        <p:spPr>
          <a:xfrm flipV="1">
            <a:off x="5399640" y="2891160"/>
            <a:ext cx="520920" cy="468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sp>
        <p:nvSpPr>
          <p:cNvPr id="107" name="Google Shape;183;p 3"/>
          <p:cNvSpPr/>
          <p:nvPr/>
        </p:nvSpPr>
        <p:spPr>
          <a:xfrm>
            <a:off x="5920200" y="2631600"/>
            <a:ext cx="808200" cy="519120"/>
          </a:xfrm>
          <a:prstGeom prst="rect">
            <a:avLst/>
          </a:prstGeom>
          <a:noFill/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  <a:ea typeface="Calibri"/>
              </a:rPr>
              <a:t>Variables Selection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8" name="Google Shape;232;p 8"/>
          <p:cNvCxnSpPr>
            <a:stCxn id="99" idx="2"/>
            <a:endCxn id="109" idx="0"/>
          </p:cNvCxnSpPr>
          <p:nvPr/>
        </p:nvCxnSpPr>
        <p:spPr>
          <a:xfrm>
            <a:off x="4995360" y="3155040"/>
            <a:ext cx="324720" cy="38124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sp>
        <p:nvSpPr>
          <p:cNvPr id="109" name="Google Shape;183;p 4"/>
          <p:cNvSpPr/>
          <p:nvPr/>
        </p:nvSpPr>
        <p:spPr>
          <a:xfrm>
            <a:off x="4915800" y="3535920"/>
            <a:ext cx="808200" cy="519120"/>
          </a:xfrm>
          <a:prstGeom prst="rect">
            <a:avLst/>
          </a:prstGeom>
          <a:noFill/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  <a:ea typeface="Calibri"/>
              </a:rPr>
              <a:t>Summary Tables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Google Shape;147;p 2"/>
          <p:cNvSpPr/>
          <p:nvPr/>
        </p:nvSpPr>
        <p:spPr>
          <a:xfrm>
            <a:off x="4387680" y="2520000"/>
            <a:ext cx="2518920" cy="1680480"/>
          </a:xfrm>
          <a:prstGeom prst="rect">
            <a:avLst/>
          </a:prstGeom>
          <a:noFill/>
          <a:ln w="3600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2960" rIns="102960" tIns="57240" bIns="57240" anchor="ctr">
            <a:noAutofit/>
          </a:bodyPr>
          <a:p>
            <a:pPr>
              <a:lnSpc>
                <a:spcPct val="100000"/>
              </a:lnSpc>
            </a:pPr>
            <a:endParaRPr b="0" lang="en-GB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11" name=""/>
          <p:cNvSpPr/>
          <p:nvPr/>
        </p:nvSpPr>
        <p:spPr>
          <a:xfrm>
            <a:off x="4569480" y="2159640"/>
            <a:ext cx="111744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c9211e"/>
                </a:solidFill>
                <a:latin typeface="Calibri"/>
                <a:ea typeface="Calibri"/>
              </a:rPr>
              <a:t>Step 2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2" name="Google Shape;232;p 7"/>
          <p:cNvCxnSpPr>
            <a:stCxn id="107" idx="3"/>
          </p:cNvCxnSpPr>
          <p:nvPr/>
        </p:nvCxnSpPr>
        <p:spPr>
          <a:xfrm flipV="1">
            <a:off x="6728400" y="2459520"/>
            <a:ext cx="545040" cy="43200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grpSp>
        <p:nvGrpSpPr>
          <p:cNvPr id="113" name="Google Shape;244;p5"/>
          <p:cNvGrpSpPr/>
          <p:nvPr/>
        </p:nvGrpSpPr>
        <p:grpSpPr>
          <a:xfrm>
            <a:off x="7272000" y="2198520"/>
            <a:ext cx="1042920" cy="520920"/>
            <a:chOff x="7272000" y="2198520"/>
            <a:chExt cx="1042920" cy="520920"/>
          </a:xfrm>
        </p:grpSpPr>
        <p:sp>
          <p:nvSpPr>
            <p:cNvPr id="114" name="Google Shape;245;p 1"/>
            <p:cNvSpPr/>
            <p:nvPr/>
          </p:nvSpPr>
          <p:spPr>
            <a:xfrm>
              <a:off x="7272000" y="2198520"/>
              <a:ext cx="915840" cy="459360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PCA</a:t>
              </a:r>
              <a:endParaRPr b="0" lang="en-GB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15" name="Google Shape;246;p 1" descr=""/>
            <p:cNvPicPr/>
            <p:nvPr/>
          </p:nvPicPr>
          <p:blipFill>
            <a:blip r:embed="rId7"/>
            <a:stretch/>
          </p:blipFill>
          <p:spPr>
            <a:xfrm>
              <a:off x="8074080" y="2488320"/>
              <a:ext cx="240840" cy="231120"/>
            </a:xfrm>
            <a:prstGeom prst="rect">
              <a:avLst/>
            </a:prstGeom>
            <a:ln w="0">
              <a:noFill/>
            </a:ln>
          </p:spPr>
        </p:pic>
      </p:grpSp>
      <p:cxnSp>
        <p:nvCxnSpPr>
          <p:cNvPr id="116" name="Google Shape;232;p 9"/>
          <p:cNvCxnSpPr>
            <a:stCxn id="109" idx="3"/>
          </p:cNvCxnSpPr>
          <p:nvPr/>
        </p:nvCxnSpPr>
        <p:spPr>
          <a:xfrm>
            <a:off x="5724000" y="3795480"/>
            <a:ext cx="351000" cy="180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pic>
        <p:nvPicPr>
          <p:cNvPr id="117" name="Google Shape;319;p 2" descr=""/>
          <p:cNvPicPr/>
          <p:nvPr/>
        </p:nvPicPr>
        <p:blipFill>
          <a:blip r:embed="rId8"/>
          <a:stretch/>
        </p:blipFill>
        <p:spPr>
          <a:xfrm>
            <a:off x="6073560" y="3598200"/>
            <a:ext cx="394560" cy="394560"/>
          </a:xfrm>
          <a:prstGeom prst="rect">
            <a:avLst/>
          </a:prstGeom>
          <a:ln w="0">
            <a:noFill/>
          </a:ln>
        </p:spPr>
      </p:pic>
      <p:cxnSp>
        <p:nvCxnSpPr>
          <p:cNvPr id="118" name="Google Shape;232;p 10"/>
          <p:cNvCxnSpPr/>
          <p:nvPr/>
        </p:nvCxnSpPr>
        <p:spPr>
          <a:xfrm flipV="1">
            <a:off x="8242200" y="2259360"/>
            <a:ext cx="349920" cy="18144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pic>
        <p:nvPicPr>
          <p:cNvPr id="119" name="Google Shape;319;p 3" descr=""/>
          <p:cNvPicPr/>
          <p:nvPr/>
        </p:nvPicPr>
        <p:blipFill>
          <a:blip r:embed="rId9"/>
          <a:stretch/>
        </p:blipFill>
        <p:spPr>
          <a:xfrm>
            <a:off x="8590680" y="2061720"/>
            <a:ext cx="394560" cy="394560"/>
          </a:xfrm>
          <a:prstGeom prst="rect">
            <a:avLst/>
          </a:prstGeom>
          <a:ln w="0">
            <a:noFill/>
          </a:ln>
        </p:spPr>
      </p:pic>
      <p:pic>
        <p:nvPicPr>
          <p:cNvPr id="120" name="" descr=""/>
          <p:cNvPicPr/>
          <p:nvPr/>
        </p:nvPicPr>
        <p:blipFill>
          <a:blip r:embed="rId10"/>
          <a:stretch/>
        </p:blipFill>
        <p:spPr>
          <a:xfrm>
            <a:off x="8575200" y="2535840"/>
            <a:ext cx="394920" cy="394920"/>
          </a:xfrm>
          <a:prstGeom prst="rect">
            <a:avLst/>
          </a:prstGeom>
          <a:ln w="0">
            <a:noFill/>
          </a:ln>
        </p:spPr>
      </p:pic>
      <p:cxnSp>
        <p:nvCxnSpPr>
          <p:cNvPr id="121" name="Google Shape;232;p 12"/>
          <p:cNvCxnSpPr>
            <a:endCxn id="120" idx="1"/>
          </p:cNvCxnSpPr>
          <p:nvPr/>
        </p:nvCxnSpPr>
        <p:spPr>
          <a:xfrm>
            <a:off x="8238960" y="2445840"/>
            <a:ext cx="336600" cy="28764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grpSp>
        <p:nvGrpSpPr>
          <p:cNvPr id="122" name="Google Shape;244;p 1"/>
          <p:cNvGrpSpPr/>
          <p:nvPr/>
        </p:nvGrpSpPr>
        <p:grpSpPr>
          <a:xfrm>
            <a:off x="7268760" y="3314880"/>
            <a:ext cx="1042920" cy="520920"/>
            <a:chOff x="7268760" y="3314880"/>
            <a:chExt cx="1042920" cy="520920"/>
          </a:xfrm>
        </p:grpSpPr>
        <p:sp>
          <p:nvSpPr>
            <p:cNvPr id="123" name="Google Shape;245;p 2"/>
            <p:cNvSpPr/>
            <p:nvPr/>
          </p:nvSpPr>
          <p:spPr>
            <a:xfrm>
              <a:off x="7268760" y="3314880"/>
              <a:ext cx="915840" cy="459360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ANOVA</a:t>
              </a:r>
              <a:endParaRPr b="0" lang="en-GB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24" name="Google Shape;246;p 2" descr=""/>
            <p:cNvPicPr/>
            <p:nvPr/>
          </p:nvPicPr>
          <p:blipFill>
            <a:blip r:embed="rId11"/>
            <a:stretch/>
          </p:blipFill>
          <p:spPr>
            <a:xfrm>
              <a:off x="8070840" y="3604680"/>
              <a:ext cx="240840" cy="231120"/>
            </a:xfrm>
            <a:prstGeom prst="rect">
              <a:avLst/>
            </a:prstGeom>
            <a:ln w="0">
              <a:noFill/>
            </a:ln>
          </p:spPr>
        </p:pic>
      </p:grpSp>
      <p:cxnSp>
        <p:nvCxnSpPr>
          <p:cNvPr id="125" name="Google Shape;232;p 11"/>
          <p:cNvCxnSpPr/>
          <p:nvPr/>
        </p:nvCxnSpPr>
        <p:spPr>
          <a:xfrm flipV="1">
            <a:off x="8238960" y="3375720"/>
            <a:ext cx="349920" cy="18144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pic>
        <p:nvPicPr>
          <p:cNvPr id="126" name="Google Shape;319;p 4" descr=""/>
          <p:cNvPicPr/>
          <p:nvPr/>
        </p:nvPicPr>
        <p:blipFill>
          <a:blip r:embed="rId12"/>
          <a:stretch/>
        </p:blipFill>
        <p:spPr>
          <a:xfrm>
            <a:off x="8587440" y="3178080"/>
            <a:ext cx="394560" cy="394560"/>
          </a:xfrm>
          <a:prstGeom prst="rect">
            <a:avLst/>
          </a:prstGeom>
          <a:ln w="0">
            <a:noFill/>
          </a:ln>
        </p:spPr>
      </p:pic>
      <p:pic>
        <p:nvPicPr>
          <p:cNvPr id="127" name="" descr=""/>
          <p:cNvPicPr/>
          <p:nvPr/>
        </p:nvPicPr>
        <p:blipFill>
          <a:blip r:embed="rId13"/>
          <a:stretch/>
        </p:blipFill>
        <p:spPr>
          <a:xfrm>
            <a:off x="8571960" y="3652200"/>
            <a:ext cx="394920" cy="394920"/>
          </a:xfrm>
          <a:prstGeom prst="rect">
            <a:avLst/>
          </a:prstGeom>
          <a:ln w="0">
            <a:noFill/>
          </a:ln>
        </p:spPr>
      </p:pic>
      <p:cxnSp>
        <p:nvCxnSpPr>
          <p:cNvPr id="128" name="Google Shape;232;p 13"/>
          <p:cNvCxnSpPr>
            <a:endCxn id="127" idx="1"/>
          </p:cNvCxnSpPr>
          <p:nvPr/>
        </p:nvCxnSpPr>
        <p:spPr>
          <a:xfrm>
            <a:off x="8235720" y="3562200"/>
            <a:ext cx="336600" cy="28764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cxnSp>
        <p:nvCxnSpPr>
          <p:cNvPr id="129" name="Google Shape;232;p 14"/>
          <p:cNvCxnSpPr>
            <a:endCxn id="122" idx="1"/>
          </p:cNvCxnSpPr>
          <p:nvPr/>
        </p:nvCxnSpPr>
        <p:spPr>
          <a:xfrm>
            <a:off x="6725160" y="2897280"/>
            <a:ext cx="543960" cy="67824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sp>
        <p:nvSpPr>
          <p:cNvPr id="130" name="Google Shape;147;p 3"/>
          <p:cNvSpPr/>
          <p:nvPr/>
        </p:nvSpPr>
        <p:spPr>
          <a:xfrm>
            <a:off x="7087680" y="3096000"/>
            <a:ext cx="2518920" cy="1131480"/>
          </a:xfrm>
          <a:prstGeom prst="rect">
            <a:avLst/>
          </a:prstGeom>
          <a:noFill/>
          <a:ln w="3600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2960" rIns="102960" tIns="57240" bIns="57240" anchor="ctr">
            <a:noAutofit/>
          </a:bodyPr>
          <a:p>
            <a:pPr>
              <a:lnSpc>
                <a:spcPct val="100000"/>
              </a:lnSpc>
            </a:pPr>
            <a:endParaRPr b="0" lang="en-GB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1" name=""/>
          <p:cNvSpPr/>
          <p:nvPr/>
        </p:nvSpPr>
        <p:spPr>
          <a:xfrm>
            <a:off x="7269480" y="4150800"/>
            <a:ext cx="111744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c9211e"/>
                </a:solidFill>
                <a:latin typeface="Calibri"/>
                <a:ea typeface="Calibri"/>
              </a:rPr>
              <a:t>Step 4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Google Shape;147;p 4"/>
          <p:cNvSpPr/>
          <p:nvPr/>
        </p:nvSpPr>
        <p:spPr>
          <a:xfrm>
            <a:off x="7087680" y="1863000"/>
            <a:ext cx="2518920" cy="1131480"/>
          </a:xfrm>
          <a:prstGeom prst="rect">
            <a:avLst/>
          </a:prstGeom>
          <a:noFill/>
          <a:ln w="3600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2960" rIns="102960" tIns="57240" bIns="57240" anchor="ctr">
            <a:noAutofit/>
          </a:bodyPr>
          <a:p>
            <a:pPr>
              <a:lnSpc>
                <a:spcPct val="100000"/>
              </a:lnSpc>
            </a:pPr>
            <a:endParaRPr b="0" lang="en-GB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33" name=""/>
          <p:cNvSpPr/>
          <p:nvPr/>
        </p:nvSpPr>
        <p:spPr>
          <a:xfrm>
            <a:off x="7269480" y="1477800"/>
            <a:ext cx="111744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c9211e"/>
                </a:solidFill>
                <a:latin typeface="Calibri"/>
                <a:ea typeface="Calibri"/>
              </a:rPr>
              <a:t>Step 3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293;p 2" descr=""/>
          <p:cNvPicPr/>
          <p:nvPr/>
        </p:nvPicPr>
        <p:blipFill>
          <a:blip r:embed="rId1"/>
          <a:stretch/>
        </p:blipFill>
        <p:spPr>
          <a:xfrm>
            <a:off x="324000" y="2126160"/>
            <a:ext cx="498960" cy="465840"/>
          </a:xfrm>
          <a:prstGeom prst="rect">
            <a:avLst/>
          </a:prstGeom>
          <a:ln w="0">
            <a:noFill/>
          </a:ln>
        </p:spPr>
      </p:pic>
      <p:pic>
        <p:nvPicPr>
          <p:cNvPr id="135" name="Google Shape;293;p 3" descr=""/>
          <p:cNvPicPr/>
          <p:nvPr/>
        </p:nvPicPr>
        <p:blipFill>
          <a:blip r:embed="rId2"/>
          <a:stretch/>
        </p:blipFill>
        <p:spPr>
          <a:xfrm>
            <a:off x="324360" y="3278520"/>
            <a:ext cx="498960" cy="465840"/>
          </a:xfrm>
          <a:prstGeom prst="rect">
            <a:avLst/>
          </a:prstGeom>
          <a:ln w="0">
            <a:noFill/>
          </a:ln>
        </p:spPr>
      </p:pic>
      <p:sp>
        <p:nvSpPr>
          <p:cNvPr id="136" name=""/>
          <p:cNvSpPr/>
          <p:nvPr/>
        </p:nvSpPr>
        <p:spPr>
          <a:xfrm>
            <a:off x="324000" y="1728000"/>
            <a:ext cx="6811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50" spc="-1" strike="noStrike">
                <a:solidFill>
                  <a:schemeClr val="dk1"/>
                </a:solidFill>
                <a:latin typeface="Calibri"/>
                <a:ea typeface="Calibri"/>
              </a:rPr>
              <a:t>LUCAS-Core</a:t>
            </a:r>
            <a:endParaRPr b="0" lang="en-GB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324360" y="2900520"/>
            <a:ext cx="6811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50" spc="-1" strike="noStrike">
                <a:solidFill>
                  <a:schemeClr val="dk1"/>
                </a:solidFill>
                <a:latin typeface="Calibri"/>
                <a:ea typeface="Calibri"/>
              </a:rPr>
              <a:t>LUCAS- Topsoil</a:t>
            </a:r>
            <a:endParaRPr b="0" lang="en-GB" sz="11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8" name="Google Shape;319;p 5" descr=""/>
          <p:cNvPicPr/>
          <p:nvPr/>
        </p:nvPicPr>
        <p:blipFill>
          <a:blip r:embed="rId3"/>
          <a:stretch/>
        </p:blipFill>
        <p:spPr>
          <a:xfrm>
            <a:off x="1638000" y="2166840"/>
            <a:ext cx="394560" cy="394560"/>
          </a:xfrm>
          <a:prstGeom prst="rect">
            <a:avLst/>
          </a:prstGeom>
          <a:ln w="0">
            <a:noFill/>
          </a:ln>
        </p:spPr>
      </p:pic>
      <p:pic>
        <p:nvPicPr>
          <p:cNvPr id="139" name="Google Shape;321;p 1" descr=""/>
          <p:cNvPicPr/>
          <p:nvPr/>
        </p:nvPicPr>
        <p:blipFill>
          <a:blip r:embed="rId4"/>
          <a:stretch/>
        </p:blipFill>
        <p:spPr>
          <a:xfrm>
            <a:off x="1967040" y="2287080"/>
            <a:ext cx="231840" cy="321480"/>
          </a:xfrm>
          <a:prstGeom prst="rect">
            <a:avLst/>
          </a:prstGeom>
          <a:ln w="0">
            <a:noFill/>
          </a:ln>
        </p:spPr>
      </p:pic>
      <p:sp>
        <p:nvSpPr>
          <p:cNvPr id="140" name=""/>
          <p:cNvSpPr/>
          <p:nvPr/>
        </p:nvSpPr>
        <p:spPr>
          <a:xfrm>
            <a:off x="1548360" y="1728360"/>
            <a:ext cx="10429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50" spc="-1" strike="noStrike">
                <a:solidFill>
                  <a:schemeClr val="dk1"/>
                </a:solidFill>
                <a:latin typeface="Calibri"/>
                <a:ea typeface="Calibri"/>
              </a:rPr>
              <a:t>LUCAS-Core 2009/2018</a:t>
            </a:r>
            <a:endParaRPr b="0" lang="en-GB" sz="11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1" name="Google Shape;232;p 15"/>
          <p:cNvCxnSpPr/>
          <p:nvPr/>
        </p:nvCxnSpPr>
        <p:spPr>
          <a:xfrm>
            <a:off x="982080" y="2376000"/>
            <a:ext cx="505440" cy="144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pic>
        <p:nvPicPr>
          <p:cNvPr id="142" name="Google Shape;319;p 6" descr=""/>
          <p:cNvPicPr/>
          <p:nvPr/>
        </p:nvPicPr>
        <p:blipFill>
          <a:blip r:embed="rId5"/>
          <a:stretch/>
        </p:blipFill>
        <p:spPr>
          <a:xfrm>
            <a:off x="1638360" y="3318840"/>
            <a:ext cx="394560" cy="394560"/>
          </a:xfrm>
          <a:prstGeom prst="rect">
            <a:avLst/>
          </a:prstGeom>
          <a:ln w="0">
            <a:noFill/>
          </a:ln>
        </p:spPr>
      </p:pic>
      <p:sp>
        <p:nvSpPr>
          <p:cNvPr id="143" name=""/>
          <p:cNvSpPr/>
          <p:nvPr/>
        </p:nvSpPr>
        <p:spPr>
          <a:xfrm>
            <a:off x="1548720" y="2916360"/>
            <a:ext cx="104256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150" spc="-1" strike="noStrike">
                <a:solidFill>
                  <a:schemeClr val="dk1"/>
                </a:solidFill>
                <a:latin typeface="Calibri"/>
                <a:ea typeface="Calibri"/>
              </a:rPr>
              <a:t>LUCAS-Topsoil 2009/2018</a:t>
            </a:r>
            <a:endParaRPr b="0" lang="en-GB" sz="11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4" name="Google Shape;232;p 16"/>
          <p:cNvCxnSpPr/>
          <p:nvPr/>
        </p:nvCxnSpPr>
        <p:spPr>
          <a:xfrm>
            <a:off x="982080" y="3492000"/>
            <a:ext cx="505440" cy="144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pic>
        <p:nvPicPr>
          <p:cNvPr id="145" name="Google Shape;299;p 1" descr=""/>
          <p:cNvPicPr/>
          <p:nvPr/>
        </p:nvPicPr>
        <p:blipFill>
          <a:blip r:embed="rId6"/>
          <a:stretch/>
        </p:blipFill>
        <p:spPr>
          <a:xfrm>
            <a:off x="1933920" y="3413160"/>
            <a:ext cx="263160" cy="345600"/>
          </a:xfrm>
          <a:prstGeom prst="rect">
            <a:avLst/>
          </a:prstGeom>
          <a:ln w="0">
            <a:noFill/>
          </a:ln>
        </p:spPr>
      </p:pic>
      <p:sp>
        <p:nvSpPr>
          <p:cNvPr id="146" name="Google Shape;183;p 5"/>
          <p:cNvSpPr/>
          <p:nvPr/>
        </p:nvSpPr>
        <p:spPr>
          <a:xfrm>
            <a:off x="2860200" y="2116080"/>
            <a:ext cx="808200" cy="519120"/>
          </a:xfrm>
          <a:prstGeom prst="rect">
            <a:avLst/>
          </a:prstGeom>
          <a:noFill/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  <a:ea typeface="Calibri"/>
              </a:rPr>
              <a:t>Data cleaning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7" name="Google Shape;232;p 17"/>
          <p:cNvCxnSpPr>
            <a:endCxn id="146" idx="1"/>
          </p:cNvCxnSpPr>
          <p:nvPr/>
        </p:nvCxnSpPr>
        <p:spPr>
          <a:xfrm flipV="1">
            <a:off x="2314080" y="2375640"/>
            <a:ext cx="546480" cy="72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sp>
        <p:nvSpPr>
          <p:cNvPr id="148" name="Google Shape;183;p 6"/>
          <p:cNvSpPr/>
          <p:nvPr/>
        </p:nvSpPr>
        <p:spPr>
          <a:xfrm>
            <a:off x="2862720" y="3232080"/>
            <a:ext cx="808200" cy="519120"/>
          </a:xfrm>
          <a:prstGeom prst="rect">
            <a:avLst/>
          </a:prstGeom>
          <a:noFill/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  <a:ea typeface="Calibri"/>
              </a:rPr>
              <a:t>Data cleaning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9" name="Google Shape;232;p 18"/>
          <p:cNvCxnSpPr>
            <a:endCxn id="148" idx="1"/>
          </p:cNvCxnSpPr>
          <p:nvPr/>
        </p:nvCxnSpPr>
        <p:spPr>
          <a:xfrm flipV="1">
            <a:off x="2317320" y="3491640"/>
            <a:ext cx="545760" cy="72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sp>
        <p:nvSpPr>
          <p:cNvPr id="150" name="Google Shape;183;p 7"/>
          <p:cNvSpPr/>
          <p:nvPr/>
        </p:nvSpPr>
        <p:spPr>
          <a:xfrm>
            <a:off x="4231440" y="2311920"/>
            <a:ext cx="808200" cy="519120"/>
          </a:xfrm>
          <a:prstGeom prst="rect">
            <a:avLst/>
          </a:prstGeom>
          <a:noFill/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  <a:ea typeface="Calibri"/>
              </a:rPr>
              <a:t>Points Selection (stable LU)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1" name="Google Shape;232;p 19"/>
          <p:cNvCxnSpPr>
            <a:stCxn id="146" idx="3"/>
            <a:endCxn id="150" idx="1"/>
          </p:cNvCxnSpPr>
          <p:nvPr/>
        </p:nvCxnSpPr>
        <p:spPr>
          <a:xfrm>
            <a:off x="3668400" y="2375640"/>
            <a:ext cx="563400" cy="19620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cxnSp>
        <p:nvCxnSpPr>
          <p:cNvPr id="152" name="Google Shape;232;p 20"/>
          <p:cNvCxnSpPr>
            <a:stCxn id="148" idx="3"/>
            <a:endCxn id="150" idx="1"/>
          </p:cNvCxnSpPr>
          <p:nvPr/>
        </p:nvCxnSpPr>
        <p:spPr>
          <a:xfrm flipV="1">
            <a:off x="3670920" y="2571480"/>
            <a:ext cx="560880" cy="92052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sp>
        <p:nvSpPr>
          <p:cNvPr id="153" name="Google Shape;147;p 5"/>
          <p:cNvSpPr/>
          <p:nvPr/>
        </p:nvSpPr>
        <p:spPr>
          <a:xfrm>
            <a:off x="144000" y="1694520"/>
            <a:ext cx="5256000" cy="2625480"/>
          </a:xfrm>
          <a:prstGeom prst="rect">
            <a:avLst/>
          </a:prstGeom>
          <a:noFill/>
          <a:ln w="3600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2960" rIns="102960" tIns="57240" bIns="57240" anchor="ctr">
            <a:noAutofit/>
          </a:bodyPr>
          <a:p>
            <a:pPr>
              <a:lnSpc>
                <a:spcPct val="100000"/>
              </a:lnSpc>
            </a:pPr>
            <a:endParaRPr b="0" lang="en-GB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4" name=""/>
          <p:cNvSpPr/>
          <p:nvPr/>
        </p:nvSpPr>
        <p:spPr>
          <a:xfrm>
            <a:off x="357480" y="1325160"/>
            <a:ext cx="111744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c9211e"/>
                </a:solidFill>
                <a:latin typeface="Calibri"/>
                <a:ea typeface="Calibri"/>
              </a:rPr>
              <a:t>Step 1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5" name="Google Shape;232;p 21"/>
          <p:cNvCxnSpPr>
            <a:stCxn id="150" idx="3"/>
            <a:endCxn id="156" idx="1"/>
          </p:cNvCxnSpPr>
          <p:nvPr/>
        </p:nvCxnSpPr>
        <p:spPr>
          <a:xfrm flipV="1">
            <a:off x="5039640" y="2423160"/>
            <a:ext cx="844920" cy="14868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cxnSp>
        <p:nvCxnSpPr>
          <p:cNvPr id="157" name="Google Shape;232;p 22"/>
          <p:cNvCxnSpPr>
            <a:stCxn id="150" idx="2"/>
            <a:endCxn id="158" idx="0"/>
          </p:cNvCxnSpPr>
          <p:nvPr/>
        </p:nvCxnSpPr>
        <p:spPr>
          <a:xfrm>
            <a:off x="4635360" y="2831040"/>
            <a:ext cx="232560" cy="34524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sp>
        <p:nvSpPr>
          <p:cNvPr id="158" name="Google Shape;183;p 9"/>
          <p:cNvSpPr/>
          <p:nvPr/>
        </p:nvSpPr>
        <p:spPr>
          <a:xfrm>
            <a:off x="4463640" y="3175920"/>
            <a:ext cx="808200" cy="519120"/>
          </a:xfrm>
          <a:prstGeom prst="rect">
            <a:avLst/>
          </a:prstGeom>
          <a:noFill/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  <a:ea typeface="Calibri"/>
              </a:rPr>
              <a:t>Summary Statistics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9" name="Google Shape;232;p 23"/>
          <p:cNvCxnSpPr>
            <a:stCxn id="160" idx="3"/>
          </p:cNvCxnSpPr>
          <p:nvPr/>
        </p:nvCxnSpPr>
        <p:spPr>
          <a:xfrm>
            <a:off x="7592400" y="2423160"/>
            <a:ext cx="364320" cy="36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grpSp>
        <p:nvGrpSpPr>
          <p:cNvPr id="161" name="Google Shape;244;p 2"/>
          <p:cNvGrpSpPr/>
          <p:nvPr/>
        </p:nvGrpSpPr>
        <p:grpSpPr>
          <a:xfrm>
            <a:off x="7956000" y="2162520"/>
            <a:ext cx="1042920" cy="520920"/>
            <a:chOff x="7956000" y="2162520"/>
            <a:chExt cx="1042920" cy="520920"/>
          </a:xfrm>
        </p:grpSpPr>
        <p:sp>
          <p:nvSpPr>
            <p:cNvPr id="162" name="Google Shape;245;p 3"/>
            <p:cNvSpPr/>
            <p:nvPr/>
          </p:nvSpPr>
          <p:spPr>
            <a:xfrm>
              <a:off x="7956000" y="2162520"/>
              <a:ext cx="915840" cy="459360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PCA</a:t>
              </a:r>
              <a:endParaRPr b="0" lang="en-GB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63" name="Google Shape;246;p 3" descr=""/>
            <p:cNvPicPr/>
            <p:nvPr/>
          </p:nvPicPr>
          <p:blipFill>
            <a:blip r:embed="rId7"/>
            <a:stretch/>
          </p:blipFill>
          <p:spPr>
            <a:xfrm>
              <a:off x="8758080" y="2452320"/>
              <a:ext cx="240840" cy="231120"/>
            </a:xfrm>
            <a:prstGeom prst="rect">
              <a:avLst/>
            </a:prstGeom>
            <a:ln w="0">
              <a:noFill/>
            </a:ln>
          </p:spPr>
        </p:pic>
      </p:grpSp>
      <p:cxnSp>
        <p:nvCxnSpPr>
          <p:cNvPr id="164" name="Google Shape;232;p 24"/>
          <p:cNvCxnSpPr>
            <a:stCxn id="158" idx="2"/>
          </p:cNvCxnSpPr>
          <p:nvPr/>
        </p:nvCxnSpPr>
        <p:spPr>
          <a:xfrm>
            <a:off x="4867560" y="3695040"/>
            <a:ext cx="299160" cy="19188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cxnSp>
        <p:nvCxnSpPr>
          <p:cNvPr id="165" name="Google Shape;232;p 25"/>
          <p:cNvCxnSpPr/>
          <p:nvPr/>
        </p:nvCxnSpPr>
        <p:spPr>
          <a:xfrm flipV="1">
            <a:off x="8926200" y="2223360"/>
            <a:ext cx="349920" cy="18144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pic>
        <p:nvPicPr>
          <p:cNvPr id="166" name="Google Shape;319;p 8" descr=""/>
          <p:cNvPicPr/>
          <p:nvPr/>
        </p:nvPicPr>
        <p:blipFill>
          <a:blip r:embed="rId8"/>
          <a:stretch/>
        </p:blipFill>
        <p:spPr>
          <a:xfrm>
            <a:off x="9274680" y="2025720"/>
            <a:ext cx="394560" cy="394560"/>
          </a:xfrm>
          <a:prstGeom prst="rect">
            <a:avLst/>
          </a:prstGeom>
          <a:ln w="0">
            <a:noFill/>
          </a:ln>
        </p:spPr>
      </p:pic>
      <p:pic>
        <p:nvPicPr>
          <p:cNvPr id="167" name="" descr=""/>
          <p:cNvPicPr/>
          <p:nvPr/>
        </p:nvPicPr>
        <p:blipFill>
          <a:blip r:embed="rId9"/>
          <a:stretch/>
        </p:blipFill>
        <p:spPr>
          <a:xfrm>
            <a:off x="9259200" y="2499840"/>
            <a:ext cx="394920" cy="394920"/>
          </a:xfrm>
          <a:prstGeom prst="rect">
            <a:avLst/>
          </a:prstGeom>
          <a:ln w="0">
            <a:noFill/>
          </a:ln>
        </p:spPr>
      </p:pic>
      <p:cxnSp>
        <p:nvCxnSpPr>
          <p:cNvPr id="168" name="Google Shape;232;p 26"/>
          <p:cNvCxnSpPr>
            <a:endCxn id="167" idx="1"/>
          </p:cNvCxnSpPr>
          <p:nvPr/>
        </p:nvCxnSpPr>
        <p:spPr>
          <a:xfrm>
            <a:off x="8922960" y="2409840"/>
            <a:ext cx="336600" cy="28764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grpSp>
        <p:nvGrpSpPr>
          <p:cNvPr id="169" name="Google Shape;244;p 3"/>
          <p:cNvGrpSpPr/>
          <p:nvPr/>
        </p:nvGrpSpPr>
        <p:grpSpPr>
          <a:xfrm>
            <a:off x="7952760" y="3350880"/>
            <a:ext cx="1042920" cy="520920"/>
            <a:chOff x="7952760" y="3350880"/>
            <a:chExt cx="1042920" cy="520920"/>
          </a:xfrm>
        </p:grpSpPr>
        <p:sp>
          <p:nvSpPr>
            <p:cNvPr id="170" name="Google Shape;245;p 4"/>
            <p:cNvSpPr/>
            <p:nvPr/>
          </p:nvSpPr>
          <p:spPr>
            <a:xfrm>
              <a:off x="7952760" y="3350880"/>
              <a:ext cx="915840" cy="459360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ANOVA</a:t>
              </a:r>
              <a:endParaRPr b="0" lang="en-GB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71" name="Google Shape;246;p 4" descr=""/>
            <p:cNvPicPr/>
            <p:nvPr/>
          </p:nvPicPr>
          <p:blipFill>
            <a:blip r:embed="rId10"/>
            <a:stretch/>
          </p:blipFill>
          <p:spPr>
            <a:xfrm>
              <a:off x="8754840" y="3640680"/>
              <a:ext cx="240840" cy="231120"/>
            </a:xfrm>
            <a:prstGeom prst="rect">
              <a:avLst/>
            </a:prstGeom>
            <a:ln w="0">
              <a:noFill/>
            </a:ln>
          </p:spPr>
        </p:pic>
      </p:grpSp>
      <p:cxnSp>
        <p:nvCxnSpPr>
          <p:cNvPr id="172" name="Google Shape;232;p 27"/>
          <p:cNvCxnSpPr/>
          <p:nvPr/>
        </p:nvCxnSpPr>
        <p:spPr>
          <a:xfrm flipV="1">
            <a:off x="8922960" y="3411720"/>
            <a:ext cx="349920" cy="18144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pic>
        <p:nvPicPr>
          <p:cNvPr id="173" name="Google Shape;319;p 9" descr=""/>
          <p:cNvPicPr/>
          <p:nvPr/>
        </p:nvPicPr>
        <p:blipFill>
          <a:blip r:embed="rId11"/>
          <a:stretch/>
        </p:blipFill>
        <p:spPr>
          <a:xfrm>
            <a:off x="9271440" y="3214080"/>
            <a:ext cx="394560" cy="394560"/>
          </a:xfrm>
          <a:prstGeom prst="rect">
            <a:avLst/>
          </a:prstGeom>
          <a:ln w="0">
            <a:noFill/>
          </a:ln>
        </p:spPr>
      </p:pic>
      <p:pic>
        <p:nvPicPr>
          <p:cNvPr id="174" name="" descr=""/>
          <p:cNvPicPr/>
          <p:nvPr/>
        </p:nvPicPr>
        <p:blipFill>
          <a:blip r:embed="rId12"/>
          <a:stretch/>
        </p:blipFill>
        <p:spPr>
          <a:xfrm>
            <a:off x="9255960" y="3688200"/>
            <a:ext cx="394920" cy="394920"/>
          </a:xfrm>
          <a:prstGeom prst="rect">
            <a:avLst/>
          </a:prstGeom>
          <a:ln w="0">
            <a:noFill/>
          </a:ln>
        </p:spPr>
      </p:pic>
      <p:cxnSp>
        <p:nvCxnSpPr>
          <p:cNvPr id="175" name="Google Shape;232;p 28"/>
          <p:cNvCxnSpPr>
            <a:endCxn id="174" idx="1"/>
          </p:cNvCxnSpPr>
          <p:nvPr/>
        </p:nvCxnSpPr>
        <p:spPr>
          <a:xfrm>
            <a:off x="8919720" y="3598200"/>
            <a:ext cx="336600" cy="28764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cxnSp>
        <p:nvCxnSpPr>
          <p:cNvPr id="176" name="Google Shape;232;p 29"/>
          <p:cNvCxnSpPr>
            <a:stCxn id="177" idx="3"/>
            <a:endCxn id="169" idx="1"/>
          </p:cNvCxnSpPr>
          <p:nvPr/>
        </p:nvCxnSpPr>
        <p:spPr>
          <a:xfrm>
            <a:off x="7592400" y="3611160"/>
            <a:ext cx="360720" cy="36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sp>
        <p:nvSpPr>
          <p:cNvPr id="178" name="Google Shape;147;p 8"/>
          <p:cNvSpPr/>
          <p:nvPr/>
        </p:nvSpPr>
        <p:spPr>
          <a:xfrm>
            <a:off x="5580000" y="3132000"/>
            <a:ext cx="4283640" cy="1131480"/>
          </a:xfrm>
          <a:prstGeom prst="rect">
            <a:avLst/>
          </a:prstGeom>
          <a:noFill/>
          <a:ln w="3600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2960" rIns="102960" tIns="57240" bIns="57240" anchor="ctr">
            <a:noAutofit/>
          </a:bodyPr>
          <a:p>
            <a:pPr>
              <a:lnSpc>
                <a:spcPct val="100000"/>
              </a:lnSpc>
            </a:pPr>
            <a:endParaRPr b="0" lang="en-GB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9" name=""/>
          <p:cNvSpPr/>
          <p:nvPr/>
        </p:nvSpPr>
        <p:spPr>
          <a:xfrm>
            <a:off x="7252920" y="4186800"/>
            <a:ext cx="111744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c9211e"/>
                </a:solidFill>
                <a:latin typeface="Calibri"/>
                <a:ea typeface="Calibri"/>
              </a:rPr>
              <a:t>Step 3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Google Shape;147;p 9"/>
          <p:cNvSpPr/>
          <p:nvPr/>
        </p:nvSpPr>
        <p:spPr>
          <a:xfrm>
            <a:off x="5580000" y="1755000"/>
            <a:ext cx="4283640" cy="1131480"/>
          </a:xfrm>
          <a:prstGeom prst="rect">
            <a:avLst/>
          </a:prstGeom>
          <a:noFill/>
          <a:ln w="36000">
            <a:solidFill>
              <a:srgbClr val="8080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2960" rIns="102960" tIns="57240" bIns="57240" anchor="ctr">
            <a:noAutofit/>
          </a:bodyPr>
          <a:p>
            <a:pPr>
              <a:lnSpc>
                <a:spcPct val="100000"/>
              </a:lnSpc>
            </a:pPr>
            <a:endParaRPr b="0" lang="en-GB" sz="14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1" name=""/>
          <p:cNvSpPr/>
          <p:nvPr/>
        </p:nvSpPr>
        <p:spPr>
          <a:xfrm>
            <a:off x="7252920" y="1369800"/>
            <a:ext cx="111744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rgbClr val="c9211e"/>
                </a:solidFill>
                <a:latin typeface="Calibri"/>
                <a:ea typeface="Calibri"/>
              </a:rPr>
              <a:t>Step 2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13"/>
          <a:stretch/>
        </p:blipFill>
        <p:spPr>
          <a:xfrm>
            <a:off x="4896000" y="3886200"/>
            <a:ext cx="395640" cy="395640"/>
          </a:xfrm>
          <a:prstGeom prst="rect">
            <a:avLst/>
          </a:prstGeom>
          <a:ln w="0">
            <a:noFill/>
          </a:ln>
        </p:spPr>
      </p:pic>
      <p:sp>
        <p:nvSpPr>
          <p:cNvPr id="160" name="Google Shape;183;p 10"/>
          <p:cNvSpPr/>
          <p:nvPr/>
        </p:nvSpPr>
        <p:spPr>
          <a:xfrm>
            <a:off x="6804000" y="2163600"/>
            <a:ext cx="788400" cy="519120"/>
          </a:xfrm>
          <a:prstGeom prst="rect">
            <a:avLst/>
          </a:prstGeom>
          <a:noFill/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  <a:ea typeface="Calibri"/>
              </a:rPr>
              <a:t>Variables Selection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83" name="Google Shape;232;p 30"/>
          <p:cNvCxnSpPr>
            <a:stCxn id="156" idx="3"/>
            <a:endCxn id="160" idx="1"/>
          </p:cNvCxnSpPr>
          <p:nvPr/>
        </p:nvCxnSpPr>
        <p:spPr>
          <a:xfrm>
            <a:off x="6551640" y="2423160"/>
            <a:ext cx="252720" cy="36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sp>
        <p:nvSpPr>
          <p:cNvPr id="177" name="Google Shape;183;p 11"/>
          <p:cNvSpPr/>
          <p:nvPr/>
        </p:nvSpPr>
        <p:spPr>
          <a:xfrm>
            <a:off x="6804000" y="3351600"/>
            <a:ext cx="788400" cy="519120"/>
          </a:xfrm>
          <a:prstGeom prst="rect">
            <a:avLst/>
          </a:prstGeom>
          <a:noFill/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  <a:ea typeface="Calibri"/>
              </a:rPr>
              <a:t>Variables Selection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84" name="Google Shape;232;p 31"/>
          <p:cNvCxnSpPr>
            <a:stCxn id="185" idx="3"/>
            <a:endCxn id="177" idx="1"/>
          </p:cNvCxnSpPr>
          <p:nvPr/>
        </p:nvCxnSpPr>
        <p:spPr>
          <a:xfrm>
            <a:off x="6551640" y="3611160"/>
            <a:ext cx="252720" cy="36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  <p:sp>
        <p:nvSpPr>
          <p:cNvPr id="156" name="Google Shape;183;p 8"/>
          <p:cNvSpPr/>
          <p:nvPr/>
        </p:nvSpPr>
        <p:spPr>
          <a:xfrm>
            <a:off x="5884200" y="2163600"/>
            <a:ext cx="667440" cy="519120"/>
          </a:xfrm>
          <a:prstGeom prst="rect">
            <a:avLst/>
          </a:prstGeom>
          <a:noFill/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  <a:ea typeface="Calibri"/>
              </a:rPr>
              <a:t>Points Selection (AoS)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Google Shape;183;p 12"/>
          <p:cNvSpPr/>
          <p:nvPr/>
        </p:nvSpPr>
        <p:spPr>
          <a:xfrm>
            <a:off x="5884200" y="3351600"/>
            <a:ext cx="667440" cy="519120"/>
          </a:xfrm>
          <a:prstGeom prst="rect">
            <a:avLst/>
          </a:prstGeom>
          <a:noFill/>
          <a:ln w="127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chemeClr val="dk1"/>
                </a:solidFill>
                <a:latin typeface="Calibri"/>
                <a:ea typeface="Calibri"/>
              </a:rPr>
              <a:t>Points Selection (AoS)</a:t>
            </a:r>
            <a:endParaRPr b="0" lang="en-GB" sz="1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86" name="Google Shape;232;p 32"/>
          <p:cNvCxnSpPr>
            <a:stCxn id="150" idx="3"/>
            <a:endCxn id="185" idx="1"/>
          </p:cNvCxnSpPr>
          <p:nvPr/>
        </p:nvCxnSpPr>
        <p:spPr>
          <a:xfrm>
            <a:off x="5039640" y="2571480"/>
            <a:ext cx="844920" cy="1040040"/>
          </a:xfrm>
          <a:prstGeom prst="straightConnector1">
            <a:avLst/>
          </a:prstGeom>
          <a:ln w="28575">
            <a:solidFill>
              <a:srgbClr val="4472c4"/>
            </a:solidFill>
            <a:miter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</TotalTime>
  <Application>LibreOffice/7.5.9.2$MacOSX_X86_64 LibreOffice_project/cdeefe45c17511d326101eed8008ac4092f278a9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2025-05-14T14:11:03Z</dcterms:created>
  <dc:creator>Xavier Rotllan-Puig</dc:creator>
  <dc:description/>
  <dc:language>ca-ES</dc:language>
  <cp:lastModifiedBy>Xavier Rotllan-Puig</cp:lastModifiedBy>
  <dcterms:modified xsi:type="dcterms:W3CDTF">2026-01-12T16:09:11Z</dcterms:modified>
  <cp:revision>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